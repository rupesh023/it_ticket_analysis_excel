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1.xml" ContentType="application/vnd.openxmlformats-officedocument.presentationml.notesSlid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7" r:id="rId14"/>
    <p:sldId id="268" r:id="rId15"/>
    <p:sldId id="269" r:id="rId16"/>
    <p:sldId id="271" r:id="rId17"/>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1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4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Dell\Desktop\Project%20Submission\Rupesh_Kumar_IT_Ticket_Analysis.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esktop\Project%20Submission\Rupesh_Kumar_IT_Ticket_Analysis.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ll\Desktop\Project%20Submission\Rupesh_Kumar_IT_Ticket_Analysis.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Dell\Desktop\Project%20Submission\Rupesh_Kumar_IT_Ticket_Analysis.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Dell\Desktop\Project%20Submission\Rupesh_Kumar_IT_Ticket_Analysis.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file:///C:\Users\Dell\Desktop\Project%20Submission\Rupesh_Kumar_IT_Ticket_Analysis.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file:///C:\Users\Dell\Desktop\Project%20Submission\Rupesh_Kumar_IT_Ticket_Analysis.xlsx" TargetMode="External"/><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oleObject" Target="file:///C:\Users\Dell\Desktop\Project%20Submission\Rupesh_Kumar_IT_Ticket_Analysis.xlsx"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oleObject" Target="file:///C:\Users\Dell\Desktop\Rupesh_Kumar_IT_Ticket_Analysis\Rupesh_Kumar_IT_Ticket_Analysis.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[Rupesh_Kumar_IT_Ticket_Analysis.xlsx]Q-3 I Objective!PivotTable43</c:name>
    <c:fmtId val="3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1" dirty="0">
                <a:solidFill>
                  <a:schemeClr val="tx1">
                    <a:lumMod val="50000"/>
                    <a:lumOff val="50000"/>
                  </a:schemeClr>
                </a:solidFill>
              </a:rPr>
              <a:t>Count of Ticket ID’s by Time</a:t>
            </a:r>
          </a:p>
        </c:rich>
      </c:tx>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6"/>
        <c:spPr>
          <a:solidFill>
            <a:srgbClr val="F28C28"/>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28C28"/>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28C28"/>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033279466347893"/>
          <c:y val="0.19919616651602862"/>
          <c:w val="0.86745308775891206"/>
          <c:h val="0.69680545486111367"/>
        </c:manualLayout>
      </c:layout>
      <c:barChart>
        <c:barDir val="col"/>
        <c:grouping val="clustered"/>
        <c:varyColors val="0"/>
        <c:ser>
          <c:idx val="0"/>
          <c:order val="0"/>
          <c:tx>
            <c:strRef>
              <c:f>'Q-3 I Objective'!$B$2055</c:f>
              <c:strCache>
                <c:ptCount val="1"/>
                <c:pt idx="0">
                  <c:v>Total</c:v>
                </c:pt>
              </c:strCache>
            </c:strRef>
          </c:tx>
          <c:spPr>
            <a:solidFill>
              <a:srgbClr val="F28C28"/>
            </a:solidFill>
            <a:ln>
              <a:noFill/>
            </a:ln>
            <a:effectLst/>
          </c:spPr>
          <c:invertIfNegative val="0"/>
          <c:dLbls>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'Q-3 I Objective'!$A$2056:$A$2068</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'Q-3 I Objective'!$B$2056:$B$2068</c:f>
              <c:numCache>
                <c:formatCode>General</c:formatCode>
                <c:ptCount val="12"/>
                <c:pt idx="0">
                  <c:v>7242</c:v>
                </c:pt>
                <c:pt idx="1">
                  <c:v>7901</c:v>
                </c:pt>
                <c:pt idx="2">
                  <c:v>8228</c:v>
                </c:pt>
                <c:pt idx="3">
                  <c:v>7937</c:v>
                </c:pt>
                <c:pt idx="4">
                  <c:v>8121</c:v>
                </c:pt>
                <c:pt idx="5">
                  <c:v>8141</c:v>
                </c:pt>
                <c:pt idx="6">
                  <c:v>8070</c:v>
                </c:pt>
                <c:pt idx="7">
                  <c:v>8489</c:v>
                </c:pt>
                <c:pt idx="8">
                  <c:v>8219</c:v>
                </c:pt>
                <c:pt idx="9">
                  <c:v>8495</c:v>
                </c:pt>
                <c:pt idx="10">
                  <c:v>8254</c:v>
                </c:pt>
                <c:pt idx="11">
                  <c:v>8401</c:v>
                </c:pt>
              </c:numCache>
            </c:numRef>
          </c:val>
          <c:extLst>
            <c:ext xmlns:c16="http://schemas.microsoft.com/office/drawing/2014/chart" uri="{C3380CC4-5D6E-409C-BE32-E72D297353CC}">
              <c16:uniqueId val="{00000000-B00A-4C9A-BB9C-79AB9DAA16B3}"/>
            </c:ext>
          </c:extLst>
        </c:ser>
        <c:dLbls>
          <c:dLblPos val="outEnd"/>
          <c:showLegendKey val="0"/>
          <c:showVal val="1"/>
          <c:showCatName val="0"/>
          <c:showSerName val="0"/>
          <c:showPercent val="0"/>
          <c:showBubbleSize val="0"/>
        </c:dLbls>
        <c:gapWidth val="219"/>
        <c:overlap val="-27"/>
        <c:axId val="395655744"/>
        <c:axId val="395649024"/>
      </c:barChart>
      <c:catAx>
        <c:axId val="395655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5649024"/>
        <c:crosses val="autoZero"/>
        <c:auto val="1"/>
        <c:lblAlgn val="ctr"/>
        <c:lblOffset val="100"/>
        <c:noMultiLvlLbl val="0"/>
      </c:catAx>
      <c:valAx>
        <c:axId val="3956490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5655744"/>
        <c:crosses val="autoZero"/>
        <c:crossBetween val="between"/>
      </c:valAx>
      <c:spPr>
        <a:solidFill>
          <a:srgbClr val="F7F1E5"/>
        </a:solidFill>
      </c:spPr>
    </c:plotArea>
    <c:plotVisOnly val="1"/>
    <c:dispBlanksAs val="gap"/>
    <c:showDLblsOverMax val="0"/>
    <c:extLst/>
  </c:chart>
  <c:spPr>
    <a:solidFill>
      <a:srgbClr val="F7F1E5"/>
    </a:solidFill>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[Rupesh_Kumar_IT_Ticket_Analysis.xlsx]Q-4 I Objective!PivotTable5</c:name>
    <c:fmtId val="2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Ticket</a:t>
            </a:r>
            <a:r>
              <a:rPr lang="en-US" b="1" baseline="0"/>
              <a:t> Category Distribution</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c:spPr>
      </c:pivotFmt>
      <c:pivotFmt>
        <c:idx val="2"/>
        <c:spPr>
          <a:solidFill>
            <a:schemeClr val="accent2"/>
          </a:solidFill>
          <a:ln w="19050">
            <a:solidFill>
              <a:schemeClr val="lt1"/>
            </a:solidFill>
          </a:ln>
          <a:effectLst/>
        </c:spPr>
      </c:pivotFmt>
      <c:pivotFmt>
        <c:idx val="3"/>
        <c:spPr>
          <a:solidFill>
            <a:schemeClr val="accent2"/>
          </a:solidFill>
          <a:ln w="19050">
            <a:solidFill>
              <a:schemeClr val="lt1"/>
            </a:solidFill>
          </a:ln>
          <a:effectLst/>
        </c:spPr>
      </c:pivotFmt>
      <c:pivotFmt>
        <c:idx val="4"/>
        <c:spPr>
          <a:solidFill>
            <a:schemeClr val="accent2"/>
          </a:solidFill>
          <a:ln w="19050">
            <a:solidFill>
              <a:schemeClr val="lt1"/>
            </a:solidFill>
          </a:ln>
          <a:effectLst/>
        </c:spPr>
      </c:pivotFmt>
      <c:pivotFmt>
        <c:idx val="5"/>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w="19050">
            <a:solidFill>
              <a:schemeClr val="lt1"/>
            </a:solidFill>
          </a:ln>
          <a:effectLst/>
        </c:spPr>
      </c:pivotFmt>
      <c:pivotFmt>
        <c:idx val="7"/>
        <c:spPr>
          <a:solidFill>
            <a:schemeClr val="accent2"/>
          </a:solidFill>
          <a:ln w="19050">
            <a:solidFill>
              <a:schemeClr val="lt1"/>
            </a:solidFill>
          </a:ln>
          <a:effectLst/>
        </c:spPr>
      </c:pivotFmt>
      <c:pivotFmt>
        <c:idx val="8"/>
        <c:spPr>
          <a:solidFill>
            <a:schemeClr val="accent2"/>
          </a:solidFill>
          <a:ln w="19050">
            <a:solidFill>
              <a:schemeClr val="lt1"/>
            </a:solidFill>
          </a:ln>
          <a:effectLst/>
        </c:spPr>
      </c:pivotFmt>
      <c:pivotFmt>
        <c:idx val="9"/>
        <c:spPr>
          <a:solidFill>
            <a:schemeClr val="accent2"/>
          </a:solidFill>
          <a:ln w="19050">
            <a:solidFill>
              <a:schemeClr val="lt1"/>
            </a:solidFill>
          </a:ln>
          <a:effectLst/>
        </c:spPr>
      </c:pivotFmt>
      <c:pivotFmt>
        <c:idx val="1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2"/>
          </a:solidFill>
          <a:ln w="19050">
            <a:solidFill>
              <a:schemeClr val="lt1"/>
            </a:solidFill>
          </a:ln>
          <a:effectLst/>
        </c:spPr>
      </c:pivotFmt>
      <c:pivotFmt>
        <c:idx val="12"/>
        <c:spPr>
          <a:solidFill>
            <a:schemeClr val="accent2"/>
          </a:solidFill>
          <a:ln w="19050">
            <a:solidFill>
              <a:schemeClr val="lt1"/>
            </a:solidFill>
          </a:ln>
          <a:effectLst/>
        </c:spPr>
      </c:pivotFmt>
      <c:pivotFmt>
        <c:idx val="13"/>
        <c:spPr>
          <a:solidFill>
            <a:schemeClr val="accent2"/>
          </a:solidFill>
          <a:ln w="19050">
            <a:solidFill>
              <a:schemeClr val="lt1"/>
            </a:solidFill>
          </a:ln>
          <a:effectLst/>
        </c:spPr>
      </c:pivotFmt>
      <c:pivotFmt>
        <c:idx val="14"/>
        <c:spPr>
          <a:solidFill>
            <a:schemeClr val="accent2"/>
          </a:solidFill>
          <a:ln w="19050">
            <a:solidFill>
              <a:schemeClr val="lt1"/>
            </a:solidFill>
          </a:ln>
          <a:effectLst/>
        </c:spPr>
      </c:pivotFmt>
      <c:pivotFmt>
        <c:idx val="15"/>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2"/>
          </a:solidFill>
          <a:ln w="19050">
            <a:solidFill>
              <a:schemeClr val="lt1"/>
            </a:solidFill>
          </a:ln>
          <a:effectLst/>
        </c:spPr>
      </c:pivotFmt>
      <c:pivotFmt>
        <c:idx val="17"/>
        <c:spPr>
          <a:solidFill>
            <a:schemeClr val="accent2"/>
          </a:solidFill>
          <a:ln w="19050">
            <a:solidFill>
              <a:schemeClr val="lt1"/>
            </a:solidFill>
          </a:ln>
          <a:effectLst/>
        </c:spPr>
      </c:pivotFmt>
      <c:pivotFmt>
        <c:idx val="18"/>
        <c:spPr>
          <a:solidFill>
            <a:schemeClr val="accent2"/>
          </a:solidFill>
          <a:ln w="19050">
            <a:solidFill>
              <a:schemeClr val="lt1"/>
            </a:solidFill>
          </a:ln>
          <a:effectLst/>
        </c:spPr>
      </c:pivotFmt>
      <c:pivotFmt>
        <c:idx val="19"/>
        <c:spPr>
          <a:solidFill>
            <a:schemeClr val="accent2"/>
          </a:solidFill>
          <a:ln w="19050">
            <a:solidFill>
              <a:schemeClr val="lt1"/>
            </a:solidFill>
          </a:ln>
          <a:effectLst/>
        </c:spPr>
      </c:pivotFmt>
      <c:pivotFmt>
        <c:idx val="2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2"/>
          </a:solidFill>
          <a:ln w="19050">
            <a:solidFill>
              <a:schemeClr val="lt1"/>
            </a:solidFill>
          </a:ln>
          <a:effectLst/>
        </c:spPr>
      </c:pivotFmt>
      <c:pivotFmt>
        <c:idx val="22"/>
        <c:spPr>
          <a:solidFill>
            <a:schemeClr val="accent2"/>
          </a:solidFill>
          <a:ln w="19050">
            <a:solidFill>
              <a:schemeClr val="lt1"/>
            </a:solidFill>
          </a:ln>
          <a:effectLst/>
        </c:spPr>
      </c:pivotFmt>
      <c:pivotFmt>
        <c:idx val="23"/>
        <c:spPr>
          <a:solidFill>
            <a:schemeClr val="accent2"/>
          </a:solidFill>
          <a:ln w="19050">
            <a:solidFill>
              <a:schemeClr val="lt1"/>
            </a:solidFill>
          </a:ln>
          <a:effectLst/>
        </c:spPr>
      </c:pivotFmt>
      <c:pivotFmt>
        <c:idx val="24"/>
        <c:spPr>
          <a:solidFill>
            <a:schemeClr val="accent2"/>
          </a:solidFill>
          <a:ln w="19050">
            <a:solidFill>
              <a:schemeClr val="lt1"/>
            </a:solidFill>
          </a:ln>
          <a:effectLst/>
        </c:spPr>
      </c:pivotFmt>
      <c:pivotFmt>
        <c:idx val="25"/>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2"/>
          </a:solidFill>
          <a:ln w="19050">
            <a:solidFill>
              <a:schemeClr val="lt1"/>
            </a:solidFill>
          </a:ln>
          <a:effectLst/>
        </c:spPr>
      </c:pivotFmt>
      <c:pivotFmt>
        <c:idx val="27"/>
        <c:spPr>
          <a:solidFill>
            <a:schemeClr val="accent2"/>
          </a:solidFill>
          <a:ln w="19050">
            <a:solidFill>
              <a:schemeClr val="lt1"/>
            </a:solidFill>
          </a:ln>
          <a:effectLst/>
        </c:spPr>
      </c:pivotFmt>
      <c:pivotFmt>
        <c:idx val="28"/>
        <c:spPr>
          <a:solidFill>
            <a:schemeClr val="accent2"/>
          </a:solidFill>
          <a:ln w="19050">
            <a:solidFill>
              <a:schemeClr val="lt1"/>
            </a:solidFill>
          </a:ln>
          <a:effectLst/>
        </c:spPr>
      </c:pivotFmt>
      <c:pivotFmt>
        <c:idx val="29"/>
        <c:spPr>
          <a:solidFill>
            <a:schemeClr val="accent2"/>
          </a:solidFill>
          <a:ln w="19050">
            <a:solidFill>
              <a:schemeClr val="lt1"/>
            </a:solidFill>
          </a:ln>
          <a:effectLst/>
        </c:spPr>
      </c:pivotFmt>
      <c:pivotFmt>
        <c:idx val="30"/>
        <c:spPr>
          <a:solidFill>
            <a:schemeClr val="accent2"/>
          </a:solidFill>
          <a:ln w="19050">
            <a:solidFill>
              <a:schemeClr val="lt1"/>
            </a:solidFill>
          </a:ln>
          <a:effectLst/>
        </c:spPr>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1"/>
        <c:spPr>
          <a:solidFill>
            <a:schemeClr val="accent2"/>
          </a:solidFill>
          <a:ln w="19050">
            <a:solidFill>
              <a:schemeClr val="lt1"/>
            </a:solidFill>
          </a:ln>
          <a:effectLst/>
        </c:spPr>
      </c:pivotFmt>
      <c:pivotFmt>
        <c:idx val="32"/>
        <c:spPr>
          <a:solidFill>
            <a:schemeClr val="accent2"/>
          </a:solidFill>
          <a:ln w="19050">
            <a:solidFill>
              <a:schemeClr val="lt1"/>
            </a:solidFill>
          </a:ln>
          <a:effectLst/>
        </c:spPr>
      </c:pivotFmt>
      <c:pivotFmt>
        <c:idx val="33"/>
        <c:spPr>
          <a:solidFill>
            <a:schemeClr val="accent2"/>
          </a:solidFill>
          <a:ln w="19050">
            <a:solidFill>
              <a:schemeClr val="lt1"/>
            </a:solidFill>
          </a:ln>
          <a:effectLst/>
        </c:spPr>
      </c:pivotFmt>
      <c:pivotFmt>
        <c:idx val="34"/>
        <c:spPr>
          <a:solidFill>
            <a:schemeClr val="accent2"/>
          </a:solidFill>
          <a:ln w="19050">
            <a:solidFill>
              <a:schemeClr val="lt1"/>
            </a:solidFill>
          </a:ln>
          <a:effectLst/>
        </c:spPr>
      </c:pivotFmt>
      <c:pivotFmt>
        <c:idx val="35"/>
        <c:spPr>
          <a:solidFill>
            <a:schemeClr val="accent2"/>
          </a:solidFill>
          <a:ln w="19050">
            <a:solidFill>
              <a:schemeClr val="lt1"/>
            </a:solidFill>
          </a:ln>
          <a:effectLst/>
        </c:spPr>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6"/>
        <c:spPr>
          <a:solidFill>
            <a:schemeClr val="accent2"/>
          </a:solidFill>
          <a:ln w="19050">
            <a:solidFill>
              <a:schemeClr val="lt1"/>
            </a:solidFill>
          </a:ln>
          <a:effectLst/>
        </c:spPr>
      </c:pivotFmt>
      <c:pivotFmt>
        <c:idx val="37"/>
        <c:spPr>
          <a:solidFill>
            <a:schemeClr val="accent2"/>
          </a:solidFill>
          <a:ln w="19050">
            <a:solidFill>
              <a:schemeClr val="lt1"/>
            </a:solidFill>
          </a:ln>
          <a:effectLst/>
        </c:spPr>
      </c:pivotFmt>
      <c:pivotFmt>
        <c:idx val="38"/>
        <c:spPr>
          <a:solidFill>
            <a:schemeClr val="accent2"/>
          </a:solidFill>
          <a:ln w="19050">
            <a:solidFill>
              <a:schemeClr val="lt1"/>
            </a:solidFill>
          </a:ln>
          <a:effectLst/>
        </c:spPr>
      </c:pivotFmt>
      <c:pivotFmt>
        <c:idx val="39"/>
        <c:spPr>
          <a:solidFill>
            <a:schemeClr val="accent2"/>
          </a:solidFill>
          <a:ln w="19050">
            <a:solidFill>
              <a:schemeClr val="lt1"/>
            </a:solidFill>
          </a:ln>
          <a:effectLst/>
        </c:spPr>
      </c:pivotFmt>
      <c:pivotFmt>
        <c:idx val="40"/>
        <c:spPr>
          <a:solidFill>
            <a:schemeClr val="accent2"/>
          </a:solidFill>
          <a:ln w="19050">
            <a:solidFill>
              <a:schemeClr val="lt1"/>
            </a:solidFill>
          </a:ln>
          <a:effectLst/>
        </c:spPr>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1"/>
        <c:spPr>
          <a:solidFill>
            <a:schemeClr val="accent2"/>
          </a:solidFill>
          <a:ln w="19050">
            <a:solidFill>
              <a:schemeClr val="lt1"/>
            </a:solidFill>
          </a:ln>
          <a:effectLst/>
        </c:spPr>
      </c:pivotFmt>
      <c:pivotFmt>
        <c:idx val="42"/>
        <c:spPr>
          <a:solidFill>
            <a:schemeClr val="accent2"/>
          </a:solidFill>
          <a:ln w="19050">
            <a:solidFill>
              <a:schemeClr val="lt1"/>
            </a:solidFill>
          </a:ln>
          <a:effectLst/>
        </c:spPr>
      </c:pivotFmt>
      <c:pivotFmt>
        <c:idx val="43"/>
        <c:spPr>
          <a:solidFill>
            <a:schemeClr val="accent2"/>
          </a:solidFill>
          <a:ln w="19050">
            <a:solidFill>
              <a:schemeClr val="lt1"/>
            </a:solidFill>
          </a:ln>
          <a:effectLst/>
        </c:spPr>
      </c:pivotFmt>
      <c:pivotFmt>
        <c:idx val="44"/>
        <c:spPr>
          <a:solidFill>
            <a:schemeClr val="accent2"/>
          </a:solidFill>
          <a:ln w="19050">
            <a:solidFill>
              <a:schemeClr val="lt1"/>
            </a:solidFill>
          </a:ln>
          <a:effectLst/>
        </c:spPr>
      </c:pivotFmt>
    </c:pivotFmts>
    <c:plotArea>
      <c:layout/>
      <c:pieChart>
        <c:varyColors val="1"/>
        <c:ser>
          <c:idx val="0"/>
          <c:order val="0"/>
          <c:tx>
            <c:strRef>
              <c:f>'Q-4 I Objective'!$B$9</c:f>
              <c:strCache>
                <c:ptCount val="1"/>
                <c:pt idx="0">
                  <c:v>Total</c:v>
                </c:pt>
              </c:strCache>
            </c:strRef>
          </c:tx>
          <c:dPt>
            <c:idx val="0"/>
            <c:bubble3D val="0"/>
            <c:spPr>
              <a:solidFill>
                <a:schemeClr val="accent2">
                  <a:shade val="58000"/>
                </a:schemeClr>
              </a:solidFill>
              <a:ln w="19050">
                <a:solidFill>
                  <a:schemeClr val="lt1"/>
                </a:solidFill>
              </a:ln>
              <a:effectLst/>
            </c:spPr>
            <c:extLst>
              <c:ext xmlns:c16="http://schemas.microsoft.com/office/drawing/2014/chart" uri="{C3380CC4-5D6E-409C-BE32-E72D297353CC}">
                <c16:uniqueId val="{00000001-ED14-460E-88B2-5946A3DCFB90}"/>
              </c:ext>
            </c:extLst>
          </c:dPt>
          <c:dPt>
            <c:idx val="1"/>
            <c:bubble3D val="0"/>
            <c:spPr>
              <a:solidFill>
                <a:schemeClr val="accent2">
                  <a:shade val="86000"/>
                </a:schemeClr>
              </a:solidFill>
              <a:ln w="19050">
                <a:solidFill>
                  <a:schemeClr val="lt1"/>
                </a:solidFill>
              </a:ln>
              <a:effectLst/>
            </c:spPr>
            <c:extLst>
              <c:ext xmlns:c16="http://schemas.microsoft.com/office/drawing/2014/chart" uri="{C3380CC4-5D6E-409C-BE32-E72D297353CC}">
                <c16:uniqueId val="{00000003-ED14-460E-88B2-5946A3DCFB90}"/>
              </c:ext>
            </c:extLst>
          </c:dPt>
          <c:dPt>
            <c:idx val="2"/>
            <c:bubble3D val="0"/>
            <c:spPr>
              <a:solidFill>
                <a:schemeClr val="accent2">
                  <a:tint val="86000"/>
                </a:schemeClr>
              </a:solidFill>
              <a:ln w="19050">
                <a:solidFill>
                  <a:schemeClr val="lt1"/>
                </a:solidFill>
              </a:ln>
              <a:effectLst/>
            </c:spPr>
            <c:extLst>
              <c:ext xmlns:c16="http://schemas.microsoft.com/office/drawing/2014/chart" uri="{C3380CC4-5D6E-409C-BE32-E72D297353CC}">
                <c16:uniqueId val="{00000005-ED14-460E-88B2-5946A3DCFB90}"/>
              </c:ext>
            </c:extLst>
          </c:dPt>
          <c:dPt>
            <c:idx val="3"/>
            <c:bubble3D val="0"/>
            <c:spPr>
              <a:solidFill>
                <a:schemeClr val="accent2">
                  <a:tint val="58000"/>
                </a:schemeClr>
              </a:solidFill>
              <a:ln w="19050">
                <a:solidFill>
                  <a:schemeClr val="lt1"/>
                </a:solidFill>
              </a:ln>
              <a:effectLst/>
            </c:spPr>
            <c:extLst>
              <c:ext xmlns:c16="http://schemas.microsoft.com/office/drawing/2014/chart" uri="{C3380CC4-5D6E-409C-BE32-E72D297353CC}">
                <c16:uniqueId val="{00000007-ED14-460E-88B2-5946A3DCFB90}"/>
              </c:ext>
            </c:extLst>
          </c:dPt>
          <c:dLbls>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'Q-4 I Objective'!$A$10:$A$14</c:f>
              <c:strCache>
                <c:ptCount val="4"/>
                <c:pt idx="0">
                  <c:v>Hardware</c:v>
                </c:pt>
                <c:pt idx="1">
                  <c:v>Login Access</c:v>
                </c:pt>
                <c:pt idx="2">
                  <c:v>Software</c:v>
                </c:pt>
                <c:pt idx="3">
                  <c:v>System</c:v>
                </c:pt>
              </c:strCache>
            </c:strRef>
          </c:cat>
          <c:val>
            <c:numRef>
              <c:f>'Q-4 I Objective'!$B$10:$B$14</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8-ED14-460E-88B2-5946A3DCFB90}"/>
            </c:ext>
          </c:extLst>
        </c:ser>
        <c:dLbls>
          <c:dLblPos val="outEnd"/>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7F1E5"/>
    </a:solidFill>
    <a:ln w="9525" cap="flat" cmpd="sng" algn="ctr">
      <a:solidFill>
        <a:schemeClr val="tx1">
          <a:lumMod val="50000"/>
          <a:lumOff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dirty="0">
                <a:solidFill>
                  <a:schemeClr val="tx1">
                    <a:lumMod val="50000"/>
                    <a:lumOff val="50000"/>
                  </a:schemeClr>
                </a:solidFill>
              </a:rPr>
              <a:t>Satisfaction</a:t>
            </a:r>
            <a:r>
              <a:rPr lang="en-US" baseline="0" dirty="0">
                <a:solidFill>
                  <a:schemeClr val="tx1">
                    <a:lumMod val="50000"/>
                    <a:lumOff val="50000"/>
                  </a:schemeClr>
                </a:solidFill>
              </a:rPr>
              <a:t> Rate by Time</a:t>
            </a:r>
            <a:endParaRPr lang="en-US" dirty="0">
              <a:solidFill>
                <a:schemeClr val="tx1">
                  <a:lumMod val="50000"/>
                  <a:lumOff val="50000"/>
                </a:schemeClr>
              </a:solidFill>
            </a:endParaRP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1351815004664499E-2"/>
          <c:y val="0.26759066927671882"/>
          <c:w val="0.84312005443396665"/>
          <c:h val="0.62982269278073277"/>
        </c:manualLayout>
      </c:layout>
      <c:barChart>
        <c:barDir val="col"/>
        <c:grouping val="clustered"/>
        <c:varyColors val="0"/>
        <c:ser>
          <c:idx val="1"/>
          <c:order val="0"/>
          <c:tx>
            <c:strRef>
              <c:f>'Q-6 I Subjective'!$C$207</c:f>
              <c:strCache>
                <c:ptCount val="1"/>
                <c:pt idx="0">
                  <c:v>Average of Satisfaction Rate</c:v>
                </c:pt>
              </c:strCache>
            </c:strRef>
          </c:tx>
          <c:spPr>
            <a:solidFill>
              <a:srgbClr val="F28C28"/>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'Q-6 I Subjective'!$A$208:$A$214</c:f>
              <c:numCache>
                <c:formatCode>General</c:formatCode>
                <c:ptCount val="7"/>
                <c:pt idx="0">
                  <c:v>2016</c:v>
                </c:pt>
                <c:pt idx="1">
                  <c:v>2017</c:v>
                </c:pt>
                <c:pt idx="2">
                  <c:v>2018</c:v>
                </c:pt>
                <c:pt idx="3">
                  <c:v>2019</c:v>
                </c:pt>
                <c:pt idx="4">
                  <c:v>2020</c:v>
                </c:pt>
                <c:pt idx="5">
                  <c:v>2021</c:v>
                </c:pt>
                <c:pt idx="6">
                  <c:v>2022</c:v>
                </c:pt>
              </c:numCache>
            </c:numRef>
          </c:cat>
          <c:val>
            <c:numRef>
              <c:f>'Q-6 I Subjective'!$C$208:$C$214</c:f>
              <c:numCache>
                <c:formatCode>General</c:formatCode>
                <c:ptCount val="7"/>
                <c:pt idx="0">
                  <c:v>3.9796950425254769</c:v>
                </c:pt>
                <c:pt idx="1">
                  <c:v>4.068119342943346</c:v>
                </c:pt>
                <c:pt idx="2">
                  <c:v>4.0918539622243326</c:v>
                </c:pt>
                <c:pt idx="3">
                  <c:v>4.1223825034899955</c:v>
                </c:pt>
                <c:pt idx="4">
                  <c:v>4.1612692519251926</c:v>
                </c:pt>
                <c:pt idx="5">
                  <c:v>4.2098874944255016</c:v>
                </c:pt>
                <c:pt idx="6">
                  <c:v>4.2516286523600968</c:v>
                </c:pt>
              </c:numCache>
            </c:numRef>
          </c:val>
          <c:extLst>
            <c:ext xmlns:c16="http://schemas.microsoft.com/office/drawing/2014/chart" uri="{C3380CC4-5D6E-409C-BE32-E72D297353CC}">
              <c16:uniqueId val="{00000000-6203-4D57-9928-04DCA745BA1F}"/>
            </c:ext>
          </c:extLst>
        </c:ser>
        <c:dLbls>
          <c:showLegendKey val="0"/>
          <c:showVal val="1"/>
          <c:showCatName val="0"/>
          <c:showSerName val="0"/>
          <c:showPercent val="0"/>
          <c:showBubbleSize val="0"/>
        </c:dLbls>
        <c:gapWidth val="150"/>
        <c:axId val="1477385199"/>
        <c:axId val="1477394799"/>
      </c:barChart>
      <c:catAx>
        <c:axId val="1477385199"/>
        <c:scaling>
          <c:orientation val="minMax"/>
        </c:scaling>
        <c:delete val="0"/>
        <c:axPos val="b"/>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7394799"/>
        <c:crosses val="autoZero"/>
        <c:auto val="1"/>
        <c:lblAlgn val="ctr"/>
        <c:lblOffset val="100"/>
        <c:noMultiLvlLbl val="0"/>
      </c:catAx>
      <c:valAx>
        <c:axId val="147739479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738519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rgbClr val="F7F1E5"/>
    </a:solidFill>
    <a:ln w="9525" cap="flat" cmpd="sng" algn="ctr">
      <a:solidFill>
        <a:schemeClr val="tx1">
          <a:lumMod val="50000"/>
          <a:lumOff val="50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[Rupesh_Kumar_IT_Ticket_Analysis.xlsx]Q-9 I Objective!PivotTable12</c:name>
    <c:fmtId val="29"/>
  </c:pivotSource>
  <c:chart>
    <c:title>
      <c:tx>
        <c:rich>
          <a:bodyPr rot="0" spcFirstLastPara="1" vertOverflow="ellipsis" vert="horz" wrap="square" anchor="ctr" anchorCtr="1"/>
          <a:lstStyle/>
          <a:p>
            <a:pPr>
              <a:defRPr lang="en-US" sz="1200" b="0" i="0" u="none" strike="noStrike" kern="1200" spc="0" baseline="0">
                <a:solidFill>
                  <a:schemeClr val="tx1"/>
                </a:solidFill>
                <a:latin typeface="+mn-lt"/>
                <a:ea typeface="+mn-ea"/>
                <a:cs typeface="+mn-cs"/>
              </a:defRPr>
            </a:pPr>
            <a:r>
              <a:rPr lang="en-US" sz="1600" b="1">
                <a:solidFill>
                  <a:schemeClr val="tx1">
                    <a:lumMod val="50000"/>
                    <a:lumOff val="50000"/>
                  </a:schemeClr>
                </a:solidFill>
              </a:rPr>
              <a:t>Average Resolution Time by Category</a:t>
            </a:r>
          </a:p>
        </c:rich>
      </c:tx>
      <c:layout>
        <c:manualLayout>
          <c:xMode val="edge"/>
          <c:yMode val="edge"/>
          <c:x val="0.18927275896415496"/>
          <c:y val="6.2956392773646952E-2"/>
        </c:manualLayout>
      </c:layout>
      <c:overlay val="0"/>
      <c:spPr>
        <a:noFill/>
        <a:ln>
          <a:noFill/>
        </a:ln>
        <a:effectLst/>
      </c:spPr>
      <c:txPr>
        <a:bodyPr rot="0" spcFirstLastPara="1" vertOverflow="ellipsis" vert="horz" wrap="square" anchor="ctr" anchorCtr="1"/>
        <a:lstStyle/>
        <a:p>
          <a:pPr>
            <a:defRPr lang="en-US" sz="1200" b="0"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28C28"/>
          </a:solidFill>
          <a:ln>
            <a:solidFill>
              <a:srgbClr val="F28C28"/>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28C28"/>
          </a:solidFill>
          <a:ln>
            <a:solidFill>
              <a:srgbClr val="F28C28"/>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28C28"/>
          </a:solidFill>
          <a:ln>
            <a:solidFill>
              <a:srgbClr val="F28C28"/>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5617665986577254"/>
          <c:y val="0.24311513641118268"/>
          <c:w val="0.69538205623474925"/>
          <c:h val="0.64930386855597921"/>
        </c:manualLayout>
      </c:layout>
      <c:barChart>
        <c:barDir val="bar"/>
        <c:grouping val="clustered"/>
        <c:varyColors val="0"/>
        <c:ser>
          <c:idx val="0"/>
          <c:order val="0"/>
          <c:tx>
            <c:strRef>
              <c:f>'Q-9 I Objective'!$B$8</c:f>
              <c:strCache>
                <c:ptCount val="1"/>
                <c:pt idx="0">
                  <c:v>Total</c:v>
                </c:pt>
              </c:strCache>
            </c:strRef>
          </c:tx>
          <c:spPr>
            <a:solidFill>
              <a:srgbClr val="F28C28"/>
            </a:solidFill>
            <a:ln>
              <a:solidFill>
                <a:srgbClr val="F28C28"/>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'Q-9 I Objective'!$A$9:$A$13</c:f>
              <c:strCache>
                <c:ptCount val="4"/>
                <c:pt idx="0">
                  <c:v>Hardware</c:v>
                </c:pt>
                <c:pt idx="1">
                  <c:v>System</c:v>
                </c:pt>
                <c:pt idx="2">
                  <c:v>Software</c:v>
                </c:pt>
                <c:pt idx="3">
                  <c:v>Login Access</c:v>
                </c:pt>
              </c:strCache>
            </c:strRef>
          </c:cat>
          <c:val>
            <c:numRef>
              <c:f>'Q-9 I Objective'!$B$9:$B$13</c:f>
              <c:numCache>
                <c:formatCode>General</c:formatCode>
                <c:ptCount val="4"/>
                <c:pt idx="0">
                  <c:v>7.6253981300729476</c:v>
                </c:pt>
                <c:pt idx="1">
                  <c:v>6.6156094559253376</c:v>
                </c:pt>
                <c:pt idx="2">
                  <c:v>5.2387327542156363</c:v>
                </c:pt>
                <c:pt idx="3">
                  <c:v>0.31380810468262937</c:v>
                </c:pt>
              </c:numCache>
            </c:numRef>
          </c:val>
          <c:extLst>
            <c:ext xmlns:c16="http://schemas.microsoft.com/office/drawing/2014/chart" uri="{C3380CC4-5D6E-409C-BE32-E72D297353CC}">
              <c16:uniqueId val="{00000000-86FA-4D67-86B8-0440F46A6432}"/>
            </c:ext>
          </c:extLst>
        </c:ser>
        <c:dLbls>
          <c:dLblPos val="outEnd"/>
          <c:showLegendKey val="0"/>
          <c:showVal val="1"/>
          <c:showCatName val="0"/>
          <c:showSerName val="0"/>
          <c:showPercent val="0"/>
          <c:showBubbleSize val="0"/>
        </c:dLbls>
        <c:gapWidth val="182"/>
        <c:axId val="994350383"/>
        <c:axId val="994351343"/>
      </c:barChart>
      <c:catAx>
        <c:axId val="99435038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994351343"/>
        <c:crosses val="autoZero"/>
        <c:auto val="1"/>
        <c:lblAlgn val="ctr"/>
        <c:lblOffset val="100"/>
        <c:noMultiLvlLbl val="0"/>
      </c:catAx>
      <c:valAx>
        <c:axId val="99435134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994350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7F1E5"/>
    </a:solidFill>
    <a:ln w="9525" cap="flat" cmpd="sng" algn="ctr">
      <a:solidFill>
        <a:schemeClr val="tx1">
          <a:lumMod val="50000"/>
          <a:lumOff val="50000"/>
        </a:schemeClr>
      </a:solid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a:t>Total Tickets</a:t>
            </a:r>
            <a:r>
              <a:rPr lang="en-IN" b="1" baseline="0"/>
              <a:t> By Severity Type</a:t>
            </a:r>
            <a:endParaRPr lang="en-IN"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lineChart>
        <c:grouping val="standard"/>
        <c:varyColors val="0"/>
        <c:ser>
          <c:idx val="0"/>
          <c:order val="0"/>
          <c:spPr>
            <a:ln w="28575" cap="rnd">
              <a:solidFill>
                <a:srgbClr val="F28C28"/>
              </a:solidFill>
              <a:round/>
            </a:ln>
            <a:effectLst/>
          </c:spPr>
          <c:marker>
            <c:symbol val="circle"/>
            <c:size val="5"/>
            <c:spPr>
              <a:solidFill>
                <a:srgbClr val="F28C28"/>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'Q-4 I Subjective'!$A$81:$A$85</c:f>
              <c:strCache>
                <c:ptCount val="5"/>
                <c:pt idx="0">
                  <c:v>0 - Unclassified</c:v>
                </c:pt>
                <c:pt idx="1">
                  <c:v>1 - Minor</c:v>
                </c:pt>
                <c:pt idx="2">
                  <c:v>2 - Normal</c:v>
                </c:pt>
                <c:pt idx="3">
                  <c:v>3 - Major</c:v>
                </c:pt>
                <c:pt idx="4">
                  <c:v>4 - Urgent</c:v>
                </c:pt>
              </c:strCache>
            </c:strRef>
          </c:cat>
          <c:val>
            <c:numRef>
              <c:f>'Q-4 I Subjective'!$B$81:$B$85</c:f>
              <c:numCache>
                <c:formatCode>General</c:formatCode>
                <c:ptCount val="5"/>
                <c:pt idx="0">
                  <c:v>356</c:v>
                </c:pt>
                <c:pt idx="1">
                  <c:v>2258</c:v>
                </c:pt>
                <c:pt idx="2">
                  <c:v>88656</c:v>
                </c:pt>
                <c:pt idx="3">
                  <c:v>4836</c:v>
                </c:pt>
                <c:pt idx="4">
                  <c:v>1392</c:v>
                </c:pt>
              </c:numCache>
            </c:numRef>
          </c:val>
          <c:smooth val="0"/>
          <c:extLst>
            <c:ext xmlns:c16="http://schemas.microsoft.com/office/drawing/2014/chart" uri="{C3380CC4-5D6E-409C-BE32-E72D297353CC}">
              <c16:uniqueId val="{00000000-3189-4257-8C8C-A8B02D7EB69B}"/>
            </c:ext>
          </c:extLst>
        </c:ser>
        <c:dLbls>
          <c:dLblPos val="t"/>
          <c:showLegendKey val="0"/>
          <c:showVal val="1"/>
          <c:showCatName val="0"/>
          <c:showSerName val="0"/>
          <c:showPercent val="0"/>
          <c:showBubbleSize val="0"/>
        </c:dLbls>
        <c:marker val="1"/>
        <c:smooth val="0"/>
        <c:axId val="1998072336"/>
        <c:axId val="1998073296"/>
      </c:lineChart>
      <c:catAx>
        <c:axId val="1998072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8073296"/>
        <c:crosses val="autoZero"/>
        <c:auto val="1"/>
        <c:lblAlgn val="ctr"/>
        <c:lblOffset val="100"/>
        <c:noMultiLvlLbl val="0"/>
      </c:catAx>
      <c:valAx>
        <c:axId val="1998073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80723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7F1E5"/>
    </a:solidFill>
    <a:ln w="9525" cap="flat" cmpd="sng" algn="ctr">
      <a:solidFill>
        <a:schemeClr val="bg1">
          <a:lumMod val="65000"/>
        </a:schemeClr>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[Rupesh_Kumar_IT_Ticket_Analysis.xlsx]Q-4 I Subjective!PivotTable8</c:name>
    <c:fmtId val="1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Total</a:t>
            </a:r>
            <a:r>
              <a:rPr lang="en-US" b="1" baseline="0"/>
              <a:t> Tickets Volume By Priority</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pivotFmt>
      <c:pivotFmt>
        <c:idx val="3"/>
        <c:spPr>
          <a:solidFill>
            <a:schemeClr val="accent2"/>
          </a:solidFill>
          <a:ln>
            <a:noFill/>
          </a:ln>
          <a:effectLst/>
        </c:spPr>
      </c:pivotFmt>
      <c:pivotFmt>
        <c:idx val="4"/>
        <c:spPr>
          <a:solidFill>
            <a:schemeClr val="accent2"/>
          </a:solidFill>
          <a:ln>
            <a:noFill/>
          </a:ln>
          <a:effectLst/>
        </c:spPr>
      </c:pivotFmt>
      <c:pivotFmt>
        <c:idx val="5"/>
        <c:spPr>
          <a:solidFill>
            <a:schemeClr val="accent2"/>
          </a:solidFill>
          <a:ln>
            <a:noFill/>
          </a:ln>
          <a:effectLst/>
        </c:spPr>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7"/>
        <c:spPr>
          <a:solidFill>
            <a:schemeClr val="accent2"/>
          </a:solidFill>
          <a:ln>
            <a:noFill/>
          </a:ln>
          <a:effectLst/>
        </c:spPr>
        <c:dLbl>
          <c:idx val="0"/>
          <c:layout>
            <c:manualLayout>
              <c:x val="0.14752902436719975"/>
              <c:y val="-0.14080341275713973"/>
            </c:manualLayout>
          </c:layout>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8"/>
        <c:spPr>
          <a:solidFill>
            <a:schemeClr val="accent2"/>
          </a:solidFill>
          <a:ln>
            <a:noFill/>
          </a:ln>
          <a:effectLst/>
        </c:spPr>
        <c:dLbl>
          <c:idx val="0"/>
          <c:layout>
            <c:manualLayout>
              <c:x val="9.1795837384035475E-2"/>
              <c:y val="0.15442954947557239"/>
            </c:manualLayout>
          </c:layout>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9"/>
        <c:spPr>
          <a:solidFill>
            <a:schemeClr val="accent2"/>
          </a:solidFill>
          <a:ln>
            <a:noFill/>
          </a:ln>
          <a:effectLst/>
        </c:spPr>
        <c:dLbl>
          <c:idx val="0"/>
          <c:layout>
            <c:manualLayout>
              <c:x val="-0.17055181276127351"/>
              <c:y val="0.12717727603870665"/>
            </c:manualLayout>
          </c:layout>
          <c:spPr>
            <a:solidFill>
              <a:schemeClr val="bg1"/>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15:layout>
                <c:manualLayout>
                  <c:w val="0.21663817622632373"/>
                  <c:h val="0.12122719633832446"/>
                </c:manualLayout>
              </c15:layout>
            </c:ext>
          </c:extLst>
        </c:dLbl>
      </c:pivotFmt>
      <c:pivotFmt>
        <c:idx val="10"/>
        <c:spPr>
          <a:solidFill>
            <a:schemeClr val="accent2"/>
          </a:solidFill>
          <a:ln>
            <a:noFill/>
          </a:ln>
          <a:effectLst/>
        </c:spPr>
        <c:dLbl>
          <c:idx val="0"/>
          <c:layout>
            <c:manualLayout>
              <c:x val="-8.8517414620319937E-2"/>
              <c:y val="-0.13171932161151778"/>
            </c:manualLayout>
          </c:layout>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1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12"/>
        <c:spPr>
          <a:solidFill>
            <a:schemeClr val="accent2"/>
          </a:solidFill>
          <a:ln>
            <a:noFill/>
          </a:ln>
          <a:effectLst/>
        </c:spPr>
        <c:dLbl>
          <c:idx val="0"/>
          <c:layout>
            <c:manualLayout>
              <c:x val="0.14752902436719975"/>
              <c:y val="-0.14080341275713973"/>
            </c:manualLayout>
          </c:layout>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13"/>
        <c:spPr>
          <a:solidFill>
            <a:schemeClr val="accent2"/>
          </a:solidFill>
          <a:ln>
            <a:noFill/>
          </a:ln>
          <a:effectLst/>
        </c:spPr>
        <c:dLbl>
          <c:idx val="0"/>
          <c:layout>
            <c:manualLayout>
              <c:x val="9.1795837384035475E-2"/>
              <c:y val="0.15442954947557239"/>
            </c:manualLayout>
          </c:layout>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14"/>
        <c:spPr>
          <a:solidFill>
            <a:schemeClr val="accent2"/>
          </a:solidFill>
          <a:ln>
            <a:noFill/>
          </a:ln>
          <a:effectLst/>
        </c:spPr>
        <c:dLbl>
          <c:idx val="0"/>
          <c:layout>
            <c:manualLayout>
              <c:x val="-0.17055181276127351"/>
              <c:y val="0.12717727603870665"/>
            </c:manualLayout>
          </c:layout>
          <c:spPr>
            <a:solidFill>
              <a:schemeClr val="bg1"/>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15:layout>
                <c:manualLayout>
                  <c:w val="0.21663817622632373"/>
                  <c:h val="0.12122719633832446"/>
                </c:manualLayout>
              </c15:layout>
            </c:ext>
          </c:extLst>
        </c:dLbl>
      </c:pivotFmt>
      <c:pivotFmt>
        <c:idx val="15"/>
        <c:spPr>
          <a:solidFill>
            <a:schemeClr val="accent2"/>
          </a:solidFill>
          <a:ln>
            <a:noFill/>
          </a:ln>
          <a:effectLst/>
        </c:spPr>
        <c:dLbl>
          <c:idx val="0"/>
          <c:layout>
            <c:manualLayout>
              <c:x val="-8.8517414620319937E-2"/>
              <c:y val="-0.13171932161151778"/>
            </c:manualLayout>
          </c:layout>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1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17"/>
        <c:spPr>
          <a:solidFill>
            <a:schemeClr val="accent2"/>
          </a:solidFill>
          <a:ln>
            <a:noFill/>
          </a:ln>
          <a:effectLst/>
        </c:spPr>
        <c:dLbl>
          <c:idx val="0"/>
          <c:layout>
            <c:manualLayout>
              <c:x val="0.14752902436719975"/>
              <c:y val="-0.14080341275713973"/>
            </c:manualLayout>
          </c:layout>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18"/>
        <c:spPr>
          <a:solidFill>
            <a:schemeClr val="accent2"/>
          </a:solidFill>
          <a:ln>
            <a:noFill/>
          </a:ln>
          <a:effectLst/>
        </c:spPr>
        <c:dLbl>
          <c:idx val="0"/>
          <c:layout>
            <c:manualLayout>
              <c:x val="9.1795837384035475E-2"/>
              <c:y val="0.15442954947557239"/>
            </c:manualLayout>
          </c:layout>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
        <c:idx val="19"/>
        <c:spPr>
          <a:solidFill>
            <a:schemeClr val="accent2"/>
          </a:solidFill>
          <a:ln>
            <a:noFill/>
          </a:ln>
          <a:effectLst/>
        </c:spPr>
        <c:dLbl>
          <c:idx val="0"/>
          <c:layout>
            <c:manualLayout>
              <c:x val="-0.17055181276127351"/>
              <c:y val="0.12717727603870665"/>
            </c:manualLayout>
          </c:layout>
          <c:spPr>
            <a:solidFill>
              <a:schemeClr val="bg1"/>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15:layout>
                <c:manualLayout>
                  <c:w val="0.21663817622632373"/>
                  <c:h val="0.12122719633832446"/>
                </c:manualLayout>
              </c15:layout>
            </c:ext>
          </c:extLst>
        </c:dLbl>
      </c:pivotFmt>
      <c:pivotFmt>
        <c:idx val="20"/>
        <c:spPr>
          <a:solidFill>
            <a:schemeClr val="accent2"/>
          </a:solidFill>
          <a:ln>
            <a:noFill/>
          </a:ln>
          <a:effectLst/>
        </c:spPr>
        <c:dLbl>
          <c:idx val="0"/>
          <c:layout>
            <c:manualLayout>
              <c:x val="-8.8517414620319937E-2"/>
              <c:y val="-0.13171932161151778"/>
            </c:manualLayout>
          </c:layout>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extLst>
        </c:dLbl>
      </c:pivotFmt>
    </c:pivotFmts>
    <c:plotArea>
      <c:layout/>
      <c:doughnutChart>
        <c:varyColors val="1"/>
        <c:ser>
          <c:idx val="0"/>
          <c:order val="0"/>
          <c:tx>
            <c:strRef>
              <c:f>'Q-4 I Subjective'!$B$34</c:f>
              <c:strCache>
                <c:ptCount val="1"/>
                <c:pt idx="0">
                  <c:v>Total</c:v>
                </c:pt>
              </c:strCache>
            </c:strRef>
          </c:tx>
          <c:dPt>
            <c:idx val="0"/>
            <c:bubble3D val="0"/>
            <c:spPr>
              <a:solidFill>
                <a:schemeClr val="accent2">
                  <a:shade val="58000"/>
                </a:schemeClr>
              </a:solidFill>
              <a:ln>
                <a:noFill/>
              </a:ln>
              <a:effectLst/>
            </c:spPr>
            <c:extLst>
              <c:ext xmlns:c16="http://schemas.microsoft.com/office/drawing/2014/chart" uri="{C3380CC4-5D6E-409C-BE32-E72D297353CC}">
                <c16:uniqueId val="{00000001-E0AC-478A-B73C-8DA4121472FA}"/>
              </c:ext>
            </c:extLst>
          </c:dPt>
          <c:dPt>
            <c:idx val="1"/>
            <c:bubble3D val="0"/>
            <c:spPr>
              <a:solidFill>
                <a:schemeClr val="accent2">
                  <a:shade val="86000"/>
                </a:schemeClr>
              </a:solidFill>
              <a:ln>
                <a:noFill/>
              </a:ln>
              <a:effectLst/>
            </c:spPr>
            <c:extLst>
              <c:ext xmlns:c16="http://schemas.microsoft.com/office/drawing/2014/chart" uri="{C3380CC4-5D6E-409C-BE32-E72D297353CC}">
                <c16:uniqueId val="{00000003-E0AC-478A-B73C-8DA4121472FA}"/>
              </c:ext>
            </c:extLst>
          </c:dPt>
          <c:dPt>
            <c:idx val="2"/>
            <c:bubble3D val="0"/>
            <c:spPr>
              <a:solidFill>
                <a:schemeClr val="accent2">
                  <a:tint val="86000"/>
                </a:schemeClr>
              </a:solidFill>
              <a:ln>
                <a:noFill/>
              </a:ln>
              <a:effectLst/>
            </c:spPr>
            <c:extLst>
              <c:ext xmlns:c16="http://schemas.microsoft.com/office/drawing/2014/chart" uri="{C3380CC4-5D6E-409C-BE32-E72D297353CC}">
                <c16:uniqueId val="{00000005-E0AC-478A-B73C-8DA4121472FA}"/>
              </c:ext>
            </c:extLst>
          </c:dPt>
          <c:dPt>
            <c:idx val="3"/>
            <c:bubble3D val="0"/>
            <c:spPr>
              <a:solidFill>
                <a:schemeClr val="accent2">
                  <a:tint val="58000"/>
                </a:schemeClr>
              </a:solidFill>
              <a:ln>
                <a:noFill/>
              </a:ln>
              <a:effectLst/>
            </c:spPr>
            <c:extLst>
              <c:ext xmlns:c16="http://schemas.microsoft.com/office/drawing/2014/chart" uri="{C3380CC4-5D6E-409C-BE32-E72D297353CC}">
                <c16:uniqueId val="{00000007-E0AC-478A-B73C-8DA4121472FA}"/>
              </c:ext>
            </c:extLst>
          </c:dPt>
          <c:dLbls>
            <c:dLbl>
              <c:idx val="0"/>
              <c:layout>
                <c:manualLayout>
                  <c:x val="0.1869956693172645"/>
                  <c:y val="-0.10976702347105768"/>
                </c:manualLayout>
              </c:layout>
              <c:spPr>
                <a:solidFill>
                  <a:schemeClr val="bg1"/>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15:layout>
                    <c:manualLayout>
                      <c:w val="0.22793257068528075"/>
                      <c:h val="8.9020821959843607E-2"/>
                    </c:manualLayout>
                  </c15:layout>
                </c:ext>
                <c:ext xmlns:c16="http://schemas.microsoft.com/office/drawing/2014/chart" uri="{C3380CC4-5D6E-409C-BE32-E72D297353CC}">
                  <c16:uniqueId val="{00000001-E0AC-478A-B73C-8DA4121472FA}"/>
                </c:ext>
              </c:extLst>
            </c:dLbl>
            <c:dLbl>
              <c:idx val="1"/>
              <c:layout>
                <c:manualLayout>
                  <c:x val="0.13690070209889754"/>
                  <c:y val="0.1463331160815283"/>
                </c:manualLayout>
              </c:layout>
              <c:spPr>
                <a:solidFill>
                  <a:schemeClr val="bg1"/>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15:layout>
                    <c:manualLayout>
                      <c:w val="0.20325633601895349"/>
                      <c:h val="0.1079125912473519"/>
                    </c:manualLayout>
                  </c15:layout>
                </c:ext>
                <c:ext xmlns:c16="http://schemas.microsoft.com/office/drawing/2014/chart" uri="{C3380CC4-5D6E-409C-BE32-E72D297353CC}">
                  <c16:uniqueId val="{00000003-E0AC-478A-B73C-8DA4121472FA}"/>
                </c:ext>
              </c:extLst>
            </c:dLbl>
            <c:dLbl>
              <c:idx val="2"/>
              <c:layout>
                <c:manualLayout>
                  <c:x val="-0.23445034808981599"/>
                  <c:y val="0.10018906644696386"/>
                </c:manualLayout>
              </c:layout>
              <c:spPr>
                <a:solidFill>
                  <a:schemeClr val="bg1"/>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15:layout>
                    <c:manualLayout>
                      <c:w val="0.21663817622632373"/>
                      <c:h val="0.12122719633832446"/>
                    </c:manualLayout>
                  </c15:layout>
                </c:ext>
                <c:ext xmlns:c16="http://schemas.microsoft.com/office/drawing/2014/chart" uri="{C3380CC4-5D6E-409C-BE32-E72D297353CC}">
                  <c16:uniqueId val="{00000005-E0AC-478A-B73C-8DA4121472FA}"/>
                </c:ext>
              </c:extLst>
            </c:dLbl>
            <c:dLbl>
              <c:idx val="3"/>
              <c:layout>
                <c:manualLayout>
                  <c:x val="-0.13362216883373448"/>
                  <c:y val="-0.22887697250578176"/>
                </c:manualLayout>
              </c:layout>
              <c:spPr>
                <a:solidFill>
                  <a:schemeClr val="bg1"/>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extLst>
                <c:ext xmlns:c15="http://schemas.microsoft.com/office/drawing/2012/chart" uri="{CE6537A1-D6FC-4f65-9D91-7224C49458BB}">
                  <c15:layout>
                    <c:manualLayout>
                      <c:w val="0.20263629294149768"/>
                      <c:h val="8.0924349408054347E-2"/>
                    </c:manualLayout>
                  </c15:layout>
                </c:ext>
                <c:ext xmlns:c16="http://schemas.microsoft.com/office/drawing/2014/chart" uri="{C3380CC4-5D6E-409C-BE32-E72D297353CC}">
                  <c16:uniqueId val="{00000007-E0AC-478A-B73C-8DA4121472F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'Q-4 I Subjective'!$A$35:$A$39</c:f>
              <c:strCache>
                <c:ptCount val="4"/>
                <c:pt idx="0">
                  <c:v>0 - Unassigned</c:v>
                </c:pt>
                <c:pt idx="1">
                  <c:v>1 - Low</c:v>
                </c:pt>
                <c:pt idx="2">
                  <c:v>2 - Mid</c:v>
                </c:pt>
                <c:pt idx="3">
                  <c:v>3 - High</c:v>
                </c:pt>
              </c:strCache>
            </c:strRef>
          </c:cat>
          <c:val>
            <c:numRef>
              <c:f>'Q-4 I Subjective'!$B$35:$B$39</c:f>
              <c:numCache>
                <c:formatCode>General</c:formatCode>
                <c:ptCount val="4"/>
                <c:pt idx="0">
                  <c:v>29410</c:v>
                </c:pt>
                <c:pt idx="1">
                  <c:v>16694</c:v>
                </c:pt>
                <c:pt idx="2">
                  <c:v>15845</c:v>
                </c:pt>
                <c:pt idx="3">
                  <c:v>35549</c:v>
                </c:pt>
              </c:numCache>
            </c:numRef>
          </c:val>
          <c:extLst>
            <c:ext xmlns:c16="http://schemas.microsoft.com/office/drawing/2014/chart" uri="{C3380CC4-5D6E-409C-BE32-E72D297353CC}">
              <c16:uniqueId val="{00000008-E0AC-478A-B73C-8DA4121472FA}"/>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7F1E5"/>
    </a:solidFill>
    <a:ln w="9525" cap="flat" cmpd="sng" algn="ctr">
      <a:solidFill>
        <a:schemeClr val="bg1">
          <a:lumMod val="6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IN">
                <a:solidFill>
                  <a:schemeClr val="tx1">
                    <a:lumMod val="50000"/>
                    <a:lumOff val="50000"/>
                  </a:schemeClr>
                </a:solidFill>
              </a:rPr>
              <a:t>Ticket</a:t>
            </a:r>
            <a:r>
              <a:rPr lang="en-IN" baseline="0">
                <a:solidFill>
                  <a:schemeClr val="tx1">
                    <a:lumMod val="50000"/>
                    <a:lumOff val="50000"/>
                  </a:schemeClr>
                </a:solidFill>
              </a:rPr>
              <a:t> Volume Trend by Year</a:t>
            </a:r>
            <a:endParaRPr lang="en-IN">
              <a:solidFill>
                <a:schemeClr val="tx1">
                  <a:lumMod val="50000"/>
                  <a:lumOff val="50000"/>
                </a:schemeClr>
              </a:solidFill>
            </a:endParaRP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IN"/>
        </a:p>
      </c:txPr>
    </c:title>
    <c:autoTitleDeleted val="0"/>
    <c:plotArea>
      <c:layout/>
      <c:lineChart>
        <c:grouping val="stacked"/>
        <c:varyColors val="0"/>
        <c:ser>
          <c:idx val="0"/>
          <c:order val="0"/>
          <c:spPr>
            <a:ln w="31750" cap="rnd">
              <a:solidFill>
                <a:schemeClr val="accent2"/>
              </a:solidFill>
              <a:round/>
            </a:ln>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12700">
                <a:solidFill>
                  <a:schemeClr val="lt2"/>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'Q-10 I Objective'!$A$96:$A$100</c:f>
              <c:strCache>
                <c:ptCount val="5"/>
                <c:pt idx="0">
                  <c:v>2016</c:v>
                </c:pt>
                <c:pt idx="1">
                  <c:v>2017</c:v>
                </c:pt>
                <c:pt idx="2">
                  <c:v>2018</c:v>
                </c:pt>
                <c:pt idx="3">
                  <c:v>2019</c:v>
                </c:pt>
                <c:pt idx="4">
                  <c:v>2020</c:v>
                </c:pt>
              </c:strCache>
            </c:strRef>
          </c:cat>
          <c:val>
            <c:numRef>
              <c:f>'Q-10 I Objective'!$B$96:$B$100</c:f>
              <c:numCache>
                <c:formatCode>General</c:formatCode>
                <c:ptCount val="5"/>
                <c:pt idx="0">
                  <c:v>13051</c:v>
                </c:pt>
                <c:pt idx="1">
                  <c:v>14915</c:v>
                </c:pt>
                <c:pt idx="2">
                  <c:v>18954</c:v>
                </c:pt>
                <c:pt idx="3">
                  <c:v>21490</c:v>
                </c:pt>
                <c:pt idx="4">
                  <c:v>29088</c:v>
                </c:pt>
              </c:numCache>
            </c:numRef>
          </c:val>
          <c:smooth val="0"/>
          <c:extLst>
            <c:ext xmlns:c16="http://schemas.microsoft.com/office/drawing/2014/chart" uri="{C3380CC4-5D6E-409C-BE32-E72D297353CC}">
              <c16:uniqueId val="{00000000-9915-48CE-AC90-61D2E27D9C8C}"/>
            </c:ext>
          </c:extLst>
        </c:ser>
        <c:dLbls>
          <c:dLblPos val="t"/>
          <c:showLegendKey val="0"/>
          <c:showVal val="1"/>
          <c:showCatName val="0"/>
          <c:showSerName val="0"/>
          <c:showPercent val="0"/>
          <c:showBubbleSize val="0"/>
        </c:dLbls>
        <c:marker val="1"/>
        <c:smooth val="0"/>
        <c:axId val="1998065616"/>
        <c:axId val="1998067056"/>
      </c:lineChart>
      <c:catAx>
        <c:axId val="1998065616"/>
        <c:scaling>
          <c:orientation val="minMax"/>
        </c:scaling>
        <c:delete val="0"/>
        <c:axPos val="b"/>
        <c:minorGridlines>
          <c:spPr>
            <a:ln>
              <a:solidFill>
                <a:schemeClr val="tx2">
                  <a:lumMod val="5000"/>
                  <a:lumOff val="95000"/>
                </a:schemeClr>
              </a:solidFill>
            </a:ln>
            <a:effectLst/>
          </c:spPr>
        </c:minorGridlines>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998067056"/>
        <c:crosses val="autoZero"/>
        <c:auto val="1"/>
        <c:lblAlgn val="ctr"/>
        <c:lblOffset val="100"/>
        <c:noMultiLvlLbl val="0"/>
      </c:catAx>
      <c:valAx>
        <c:axId val="1998067056"/>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998065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7F1E5"/>
    </a:solidFill>
    <a:ln w="9525" cap="flat" cmpd="sng" algn="ctr">
      <a:solidFill>
        <a:schemeClr val="bg1">
          <a:lumMod val="65000"/>
        </a:schemeClr>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[Rupesh_Kumar_IT_Ticket_Analysis.xlsx]Dashboard!PivotTable13</c:name>
    <c:fmtId val="8"/>
  </c:pivotSource>
  <c:chart>
    <c:title>
      <c:tx>
        <c:rich>
          <a:bodyPr rot="0" spcFirstLastPara="1" vertOverflow="ellipsis" vert="horz" wrap="square" anchor="ctr" anchorCtr="1"/>
          <a:lstStyle/>
          <a:p>
            <a:pPr>
              <a:defRPr lang="en-US" sz="1200" b="0" i="0" u="none" strike="noStrike" kern="1200" spc="0" baseline="0">
                <a:solidFill>
                  <a:schemeClr val="tx1"/>
                </a:solidFill>
                <a:latin typeface="+mn-lt"/>
                <a:ea typeface="+mn-ea"/>
                <a:cs typeface="+mn-cs"/>
              </a:defRPr>
            </a:pPr>
            <a:r>
              <a:rPr lang="en-IN" sz="1200" b="1" i="0" u="none" strike="noStrike" kern="1200" spc="0" baseline="0">
                <a:solidFill>
                  <a:srgbClr val="000000">
                    <a:lumMod val="65000"/>
                    <a:lumOff val="35000"/>
                  </a:srgbClr>
                </a:solidFill>
              </a:rPr>
              <a:t>Average Satisfaction rate by Age Group</a:t>
            </a:r>
          </a:p>
        </c:rich>
      </c:tx>
      <c:overlay val="0"/>
      <c:spPr>
        <a:noFill/>
        <a:ln>
          <a:noFill/>
        </a:ln>
        <a:effectLst/>
      </c:spPr>
      <c:txPr>
        <a:bodyPr rot="0" spcFirstLastPara="1" vertOverflow="ellipsis" vert="horz" wrap="square" anchor="ctr" anchorCtr="1"/>
        <a:lstStyle/>
        <a:p>
          <a:pPr>
            <a:defRPr lang="en-US" sz="1200" b="0" i="0" u="none" strike="noStrike" kern="1200" spc="0" baseline="0">
              <a:solidFill>
                <a:schemeClr val="tx1"/>
              </a:solidFill>
              <a:latin typeface="+mn-lt"/>
              <a:ea typeface="+mn-ea"/>
              <a:cs typeface="+mn-cs"/>
            </a:defRPr>
          </a:pPr>
          <a:endParaRPr lang="en-US"/>
        </a:p>
      </c:txPr>
    </c:title>
    <c:autoTitleDeleted val="0"/>
    <c:pivotFmts>
      <c:pivotFmt>
        <c:idx val="0"/>
        <c:spPr>
          <a:solidFill>
            <a:srgbClr val="F28C28"/>
          </a:solidFill>
          <a:ln>
            <a:noFill/>
          </a:ln>
          <a:effectLst/>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28C28"/>
          </a:solidFill>
          <a:ln>
            <a:noFill/>
          </a:ln>
          <a:effectLst/>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28C28"/>
          </a:solidFill>
          <a:ln>
            <a:noFill/>
          </a:ln>
          <a:effectLst/>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Dashboard!$AR$76</c:f>
              <c:strCache>
                <c:ptCount val="1"/>
                <c:pt idx="0">
                  <c:v>Total</c:v>
                </c:pt>
              </c:strCache>
            </c:strRef>
          </c:tx>
          <c:spPr>
            <a:solidFill>
              <a:srgbClr val="F28C28"/>
            </a:solidFill>
            <a:ln>
              <a:noFill/>
            </a:ln>
            <a:effectLst/>
          </c:spPr>
          <c:invertIfNegative val="0"/>
          <c:dLbls>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Dashboard!$AQ$77:$AQ$83</c:f>
              <c:strCache>
                <c:ptCount val="6"/>
                <c:pt idx="0">
                  <c:v>29-33</c:v>
                </c:pt>
                <c:pt idx="1">
                  <c:v>34-38</c:v>
                </c:pt>
                <c:pt idx="2">
                  <c:v>39-43</c:v>
                </c:pt>
                <c:pt idx="3">
                  <c:v>44-48</c:v>
                </c:pt>
                <c:pt idx="4">
                  <c:v>49-53</c:v>
                </c:pt>
                <c:pt idx="5">
                  <c:v>54-58</c:v>
                </c:pt>
              </c:strCache>
            </c:strRef>
          </c:cat>
          <c:val>
            <c:numRef>
              <c:f>Dashboard!$AR$77:$AR$83</c:f>
              <c:numCache>
                <c:formatCode>General</c:formatCode>
                <c:ptCount val="6"/>
                <c:pt idx="0">
                  <c:v>4.2099816888813182</c:v>
                </c:pt>
                <c:pt idx="1">
                  <c:v>3.9551008390990727</c:v>
                </c:pt>
                <c:pt idx="2">
                  <c:v>4.1053254437869819</c:v>
                </c:pt>
                <c:pt idx="3">
                  <c:v>4.0137844117994561</c:v>
                </c:pt>
                <c:pt idx="4">
                  <c:v>4.1323996906950766</c:v>
                </c:pt>
                <c:pt idx="5">
                  <c:v>4.3920282542885971</c:v>
                </c:pt>
              </c:numCache>
            </c:numRef>
          </c:val>
          <c:extLst>
            <c:ext xmlns:c16="http://schemas.microsoft.com/office/drawing/2014/chart" uri="{C3380CC4-5D6E-409C-BE32-E72D297353CC}">
              <c16:uniqueId val="{00000000-BFF9-4DCA-9D9B-5A806FEFD3A4}"/>
            </c:ext>
          </c:extLst>
        </c:ser>
        <c:dLbls>
          <c:dLblPos val="outEnd"/>
          <c:showLegendKey val="0"/>
          <c:showVal val="1"/>
          <c:showCatName val="0"/>
          <c:showSerName val="0"/>
          <c:showPercent val="0"/>
          <c:showBubbleSize val="0"/>
        </c:dLbls>
        <c:gapWidth val="219"/>
        <c:overlap val="-27"/>
        <c:axId val="1677438592"/>
        <c:axId val="1677431392"/>
      </c:barChart>
      <c:catAx>
        <c:axId val="16774385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1677431392"/>
        <c:crosses val="autoZero"/>
        <c:auto val="1"/>
        <c:lblAlgn val="ctr"/>
        <c:lblOffset val="100"/>
        <c:noMultiLvlLbl val="0"/>
      </c:catAx>
      <c:valAx>
        <c:axId val="167743139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16774385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7F1E5"/>
    </a:solidFill>
    <a:ln w="9525" cap="flat" cmpd="sng" algn="ctr">
      <a:solidFill>
        <a:schemeClr val="bg1">
          <a:lumMod val="65000"/>
        </a:schemeClr>
      </a:solid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[Rupesh_Kumar_IT_Ticket_Analysis.xlsx]Dashboard!PivotTable4</c:name>
    <c:fmtId val="18"/>
  </c:pivotSource>
  <c:chart>
    <c:title>
      <c:tx>
        <c:rich>
          <a:bodyPr rot="0" spcFirstLastPara="1" vertOverflow="ellipsis" vert="horz" wrap="square" anchor="ctr" anchorCtr="1"/>
          <a:lstStyle/>
          <a:p>
            <a:pPr>
              <a:defRPr lang="en-US" sz="1080" b="0" i="0" u="none" strike="noStrike" kern="1200" spc="0" baseline="0">
                <a:solidFill>
                  <a:schemeClr val="tx2"/>
                </a:solidFill>
                <a:latin typeface="+mn-lt"/>
                <a:ea typeface="+mn-ea"/>
                <a:cs typeface="+mn-cs"/>
              </a:defRPr>
            </a:pPr>
            <a:r>
              <a:rPr lang="en-US" sz="1600" b="1">
                <a:solidFill>
                  <a:schemeClr val="tx1">
                    <a:lumMod val="50000"/>
                    <a:lumOff val="50000"/>
                  </a:schemeClr>
                </a:solidFill>
              </a:rPr>
              <a:t>Distribution</a:t>
            </a:r>
            <a:r>
              <a:rPr lang="en-US" sz="1600" b="1" baseline="0">
                <a:solidFill>
                  <a:schemeClr val="tx1">
                    <a:lumMod val="50000"/>
                    <a:lumOff val="50000"/>
                  </a:schemeClr>
                </a:solidFill>
              </a:rPr>
              <a:t> of Tickets Based on Resolution Time</a:t>
            </a:r>
            <a:endParaRPr lang="en-US" sz="1600" b="1">
              <a:solidFill>
                <a:schemeClr val="tx1">
                  <a:lumMod val="50000"/>
                  <a:lumOff val="50000"/>
                </a:schemeClr>
              </a:solidFill>
            </a:endParaRPr>
          </a:p>
        </c:rich>
      </c:tx>
      <c:overlay val="0"/>
      <c:spPr>
        <a:noFill/>
        <a:ln>
          <a:noFill/>
        </a:ln>
        <a:effectLst/>
      </c:spPr>
      <c:txPr>
        <a:bodyPr rot="0" spcFirstLastPara="1" vertOverflow="ellipsis" vert="horz" wrap="square" anchor="ctr" anchorCtr="1"/>
        <a:lstStyle/>
        <a:p>
          <a:pPr>
            <a:defRPr lang="en-US" sz="1080" b="0" i="0" u="none" strike="noStrike" kern="1200" spc="0" baseline="0">
              <a:solidFill>
                <a:schemeClr val="tx2"/>
              </a:solidFill>
              <a:latin typeface="+mn-lt"/>
              <a:ea typeface="+mn-ea"/>
              <a:cs typeface="+mn-cs"/>
            </a:defRPr>
          </a:pPr>
          <a:endParaRPr lang="en-US"/>
        </a:p>
      </c:txPr>
    </c:title>
    <c:autoTitleDeleted val="0"/>
    <c:pivotFmts>
      <c:pivotFmt>
        <c:idx val="0"/>
        <c:spPr>
          <a:solidFill>
            <a:srgbClr val="F28C28"/>
          </a:solidFill>
          <a:ln>
            <a:noFill/>
          </a:ln>
          <a:effectLst/>
        </c:spPr>
        <c:marker>
          <c:symbol val="none"/>
        </c:marker>
        <c:dLbl>
          <c:idx val="0"/>
          <c:spPr>
            <a:noFill/>
            <a:ln>
              <a:noFill/>
            </a:ln>
            <a:effectLst/>
          </c:spPr>
          <c:txPr>
            <a:bodyPr rot="0" spcFirstLastPara="1" vertOverflow="ellipsis" vert="horz" wrap="square" anchor="ctr" anchorCtr="1"/>
            <a:lstStyle/>
            <a:p>
              <a:pPr>
                <a:defRPr lang="en-US"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28C28"/>
          </a:solidFill>
          <a:ln>
            <a:noFill/>
          </a:ln>
          <a:effectLst/>
        </c:spPr>
        <c:marker>
          <c:symbol val="none"/>
        </c:marker>
        <c:dLbl>
          <c:idx val="0"/>
          <c:spPr>
            <a:noFill/>
            <a:ln>
              <a:noFill/>
            </a:ln>
            <a:effectLst/>
          </c:spPr>
          <c:txPr>
            <a:bodyPr rot="0" spcFirstLastPara="1" vertOverflow="ellipsis" vert="horz" wrap="square" anchor="ctr" anchorCtr="1"/>
            <a:lstStyle/>
            <a:p>
              <a:pPr>
                <a:defRPr lang="en-US"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28C28"/>
          </a:solidFill>
          <a:ln>
            <a:noFill/>
          </a:ln>
          <a:effectLst/>
        </c:spPr>
        <c:marker>
          <c:symbol val="none"/>
        </c:marker>
        <c:dLbl>
          <c:idx val="0"/>
          <c:spPr>
            <a:noFill/>
            <a:ln>
              <a:noFill/>
            </a:ln>
            <a:effectLst/>
          </c:spPr>
          <c:txPr>
            <a:bodyPr rot="0" spcFirstLastPara="1" vertOverflow="ellipsis" vert="horz" wrap="square" anchor="ctr" anchorCtr="1"/>
            <a:lstStyle/>
            <a:p>
              <a:pPr>
                <a:defRPr lang="en-US"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Dashboard!$BA$76</c:f>
              <c:strCache>
                <c:ptCount val="1"/>
                <c:pt idx="0">
                  <c:v>Total</c:v>
                </c:pt>
              </c:strCache>
            </c:strRef>
          </c:tx>
          <c:spPr>
            <a:solidFill>
              <a:srgbClr val="F28C28"/>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Dashboard!$AZ$77:$AZ$99</c:f>
              <c:strCache>
                <c:ptCount val="2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strCache>
            </c:strRef>
          </c:cat>
          <c:val>
            <c:numRef>
              <c:f>Dashboard!$BA$77:$BA$99</c:f>
              <c:numCache>
                <c:formatCode>General</c:formatCode>
                <c:ptCount val="22"/>
                <c:pt idx="0">
                  <c:v>25071</c:v>
                </c:pt>
                <c:pt idx="1">
                  <c:v>9277</c:v>
                </c:pt>
                <c:pt idx="2">
                  <c:v>6466</c:v>
                </c:pt>
                <c:pt idx="3">
                  <c:v>6200</c:v>
                </c:pt>
                <c:pt idx="4">
                  <c:v>4919</c:v>
                </c:pt>
                <c:pt idx="5">
                  <c:v>8789</c:v>
                </c:pt>
                <c:pt idx="6">
                  <c:v>7802</c:v>
                </c:pt>
                <c:pt idx="7">
                  <c:v>6582</c:v>
                </c:pt>
                <c:pt idx="8">
                  <c:v>4850</c:v>
                </c:pt>
                <c:pt idx="9">
                  <c:v>3739</c:v>
                </c:pt>
                <c:pt idx="10">
                  <c:v>3899</c:v>
                </c:pt>
                <c:pt idx="11">
                  <c:v>1732</c:v>
                </c:pt>
                <c:pt idx="12">
                  <c:v>1555</c:v>
                </c:pt>
                <c:pt idx="13">
                  <c:v>1712</c:v>
                </c:pt>
                <c:pt idx="14">
                  <c:v>1566</c:v>
                </c:pt>
                <c:pt idx="15">
                  <c:v>1360</c:v>
                </c:pt>
                <c:pt idx="16">
                  <c:v>1167</c:v>
                </c:pt>
                <c:pt idx="17">
                  <c:v>554</c:v>
                </c:pt>
                <c:pt idx="18">
                  <c:v>124</c:v>
                </c:pt>
                <c:pt idx="19">
                  <c:v>130</c:v>
                </c:pt>
                <c:pt idx="20">
                  <c:v>2</c:v>
                </c:pt>
                <c:pt idx="21">
                  <c:v>2</c:v>
                </c:pt>
              </c:numCache>
            </c:numRef>
          </c:val>
          <c:extLst>
            <c:ext xmlns:c16="http://schemas.microsoft.com/office/drawing/2014/chart" uri="{C3380CC4-5D6E-409C-BE32-E72D297353CC}">
              <c16:uniqueId val="{00000000-8BAC-4521-AFF2-7BA24FC80289}"/>
            </c:ext>
          </c:extLst>
        </c:ser>
        <c:dLbls>
          <c:dLblPos val="outEnd"/>
          <c:showLegendKey val="0"/>
          <c:showVal val="1"/>
          <c:showCatName val="0"/>
          <c:showSerName val="0"/>
          <c:showPercent val="0"/>
          <c:showBubbleSize val="0"/>
        </c:dLbls>
        <c:gapWidth val="219"/>
        <c:overlap val="-27"/>
        <c:axId val="2119614368"/>
        <c:axId val="2119615328"/>
      </c:barChart>
      <c:catAx>
        <c:axId val="2119614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2"/>
                </a:solidFill>
                <a:latin typeface="+mn-lt"/>
                <a:ea typeface="+mn-ea"/>
                <a:cs typeface="+mn-cs"/>
              </a:defRPr>
            </a:pPr>
            <a:endParaRPr lang="en-US"/>
          </a:p>
        </c:txPr>
        <c:crossAx val="2119615328"/>
        <c:crosses val="autoZero"/>
        <c:auto val="1"/>
        <c:lblAlgn val="ctr"/>
        <c:lblOffset val="100"/>
        <c:noMultiLvlLbl val="0"/>
      </c:catAx>
      <c:valAx>
        <c:axId val="21196153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2"/>
                </a:solidFill>
                <a:latin typeface="+mn-lt"/>
                <a:ea typeface="+mn-ea"/>
                <a:cs typeface="+mn-cs"/>
              </a:defRPr>
            </a:pPr>
            <a:endParaRPr lang="en-US"/>
          </a:p>
        </c:txPr>
        <c:crossAx val="2119614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7F1E5"/>
    </a:solidFill>
    <a:ln w="9525" cap="flat" cmpd="sng" algn="ctr">
      <a:solidFill>
        <a:schemeClr val="bg1">
          <a:lumMod val="65000"/>
        </a:schemeClr>
      </a:solidFill>
      <a:round/>
    </a:ln>
    <a:effectLst/>
  </c:spPr>
  <c:txPr>
    <a:bodyPr/>
    <a:lstStyle/>
    <a:p>
      <a:pPr>
        <a:defRPr lang="en-US" sz="900" b="0" i="0" u="none" strike="noStrike" kern="1200" baseline="0">
          <a:solidFill>
            <a:schemeClr val="tx2"/>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5">
  <a:schemeClr val="accent2"/>
</cs:colorStyle>
</file>

<file path=ppt/charts/colors6.xml><?xml version="1.0" encoding="utf-8"?>
<cs:colorStyle xmlns:cs="http://schemas.microsoft.com/office/drawing/2012/chartStyle" xmlns:a="http://schemas.openxmlformats.org/drawingml/2006/main" meth="withinLinear" id="15">
  <a:schemeClr val="accent2"/>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8987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27428-6720-F62B-E08F-CAA80F820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8C6414-D9BA-0FDA-28CF-A6CF24F4A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9C267C-DCAA-14E3-E00A-EDA7FD5E51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775292-F424-D6F0-CA03-8BBC4312CE3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82582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8427227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2454081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699557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9044424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591271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4783593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1782141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1076199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5162127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8007349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8173927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2362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8/16/2026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722586702"/>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s://pixabay.com/en/thank-you-polaroid-letters-2490552/" TargetMode="External"/><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120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31206"/>
          </a:solidFill>
          <a:ln/>
        </p:spPr>
      </p:sp>
      <p:sp>
        <p:nvSpPr>
          <p:cNvPr id="3" name="Shape 1"/>
          <p:cNvSpPr/>
          <p:nvPr/>
        </p:nvSpPr>
        <p:spPr>
          <a:xfrm>
            <a:off x="7328916" y="-958735"/>
            <a:ext cx="5943600" cy="5943600"/>
          </a:xfrm>
          <a:prstGeom prst="ellipse">
            <a:avLst/>
          </a:prstGeom>
          <a:solidFill>
            <a:srgbClr val="7A3406"/>
          </a:solidFill>
          <a:ln/>
        </p:spPr>
      </p:sp>
      <p:sp>
        <p:nvSpPr>
          <p:cNvPr id="4" name="Shape 2"/>
          <p:cNvSpPr/>
          <p:nvPr/>
        </p:nvSpPr>
        <p:spPr>
          <a:xfrm>
            <a:off x="8974836" y="3703320"/>
            <a:ext cx="3840480" cy="3840480"/>
          </a:xfrm>
          <a:prstGeom prst="ellipse">
            <a:avLst/>
          </a:prstGeom>
          <a:solidFill>
            <a:srgbClr val="C1560C"/>
          </a:solidFill>
          <a:ln/>
        </p:spPr>
      </p:sp>
      <p:sp>
        <p:nvSpPr>
          <p:cNvPr id="5" name="Text 3"/>
          <p:cNvSpPr/>
          <p:nvPr/>
        </p:nvSpPr>
        <p:spPr>
          <a:xfrm>
            <a:off x="822960" y="2148840"/>
            <a:ext cx="8229600" cy="365760"/>
          </a:xfrm>
          <a:prstGeom prst="rect">
            <a:avLst/>
          </a:prstGeom>
          <a:noFill/>
          <a:ln/>
        </p:spPr>
        <p:txBody>
          <a:bodyPr wrap="square" rtlCol="0" anchor="ctr"/>
          <a:lstStyle/>
          <a:p>
            <a:pPr marL="0" indent="0">
              <a:buNone/>
            </a:pPr>
            <a:r>
              <a:rPr lang="en-US" sz="1300" b="1" kern="0" spc="300" dirty="0">
                <a:solidFill>
                  <a:srgbClr val="F0A868"/>
                </a:solidFill>
                <a:latin typeface="Calibri" pitchFamily="34" charset="0"/>
                <a:ea typeface="Calibri" pitchFamily="34" charset="-122"/>
                <a:cs typeface="Calibri" pitchFamily="34" charset="-120"/>
              </a:rPr>
              <a:t>·  ANALYTICS REPORT</a:t>
            </a:r>
            <a:endParaRPr lang="en-US" sz="1300" dirty="0"/>
          </a:p>
        </p:txBody>
      </p:sp>
      <p:sp>
        <p:nvSpPr>
          <p:cNvPr id="6" name="Text 4"/>
          <p:cNvSpPr/>
          <p:nvPr/>
        </p:nvSpPr>
        <p:spPr>
          <a:xfrm>
            <a:off x="777240" y="2560320"/>
            <a:ext cx="9601200" cy="118872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IT Ticket Analysis</a:t>
            </a:r>
            <a:endParaRPr lang="en-US" sz="4800" dirty="0"/>
          </a:p>
        </p:txBody>
      </p:sp>
      <p:sp>
        <p:nvSpPr>
          <p:cNvPr id="7" name="Text 5"/>
          <p:cNvSpPr/>
          <p:nvPr/>
        </p:nvSpPr>
        <p:spPr>
          <a:xfrm>
            <a:off x="822960" y="3703320"/>
            <a:ext cx="8686800" cy="457200"/>
          </a:xfrm>
          <a:prstGeom prst="rect">
            <a:avLst/>
          </a:prstGeom>
          <a:noFill/>
          <a:ln/>
        </p:spPr>
        <p:txBody>
          <a:bodyPr wrap="square" rtlCol="0" anchor="ctr"/>
          <a:lstStyle/>
          <a:p>
            <a:pPr marL="0" indent="0">
              <a:buNone/>
            </a:pPr>
            <a:endParaRPr lang="en-US" sz="1800" dirty="0"/>
          </a:p>
        </p:txBody>
      </p:sp>
      <p:sp>
        <p:nvSpPr>
          <p:cNvPr id="8" name="Shape 6"/>
          <p:cNvSpPr/>
          <p:nvPr/>
        </p:nvSpPr>
        <p:spPr>
          <a:xfrm>
            <a:off x="841248" y="3659915"/>
            <a:ext cx="2011680" cy="0"/>
          </a:xfrm>
          <a:prstGeom prst="line">
            <a:avLst/>
          </a:prstGeom>
          <a:noFill/>
          <a:ln w="31750">
            <a:solidFill>
              <a:srgbClr val="C1560C"/>
            </a:solidFill>
            <a:prstDash val="solid"/>
          </a:ln>
        </p:spPr>
      </p:sp>
      <p:sp>
        <p:nvSpPr>
          <p:cNvPr id="9" name="Text 7"/>
          <p:cNvSpPr/>
          <p:nvPr/>
        </p:nvSpPr>
        <p:spPr>
          <a:xfrm>
            <a:off x="822960" y="3840480"/>
            <a:ext cx="9144000" cy="365760"/>
          </a:xfrm>
          <a:prstGeom prst="rect">
            <a:avLst/>
          </a:prstGeom>
          <a:noFill/>
          <a:ln/>
        </p:spPr>
        <p:txBody>
          <a:bodyPr wrap="square" rtlCol="0" anchor="ctr"/>
          <a:lstStyle/>
          <a:p>
            <a:pPr marL="0" indent="0">
              <a:buNone/>
            </a:pPr>
            <a:r>
              <a:rPr lang="en-US" sz="1300" dirty="0">
                <a:solidFill>
                  <a:srgbClr val="C9B8A8"/>
                </a:solidFill>
                <a:latin typeface="Calibri" pitchFamily="34" charset="0"/>
                <a:ea typeface="Calibri" pitchFamily="34" charset="-122"/>
                <a:cs typeface="Calibri" pitchFamily="34" charset="-120"/>
              </a:rPr>
              <a:t>97,498 Tickets  |  50 IT Agents  |  2016 – 2020</a:t>
            </a:r>
            <a:endParaRPr lang="en-US" sz="1300" dirty="0"/>
          </a:p>
        </p:txBody>
      </p:sp>
      <p:sp>
        <p:nvSpPr>
          <p:cNvPr id="10" name="Text 8"/>
          <p:cNvSpPr/>
          <p:nvPr/>
        </p:nvSpPr>
        <p:spPr>
          <a:xfrm>
            <a:off x="822960" y="6080760"/>
            <a:ext cx="5486400" cy="320040"/>
          </a:xfrm>
          <a:prstGeom prst="rect">
            <a:avLst/>
          </a:prstGeom>
          <a:noFill/>
          <a:ln/>
        </p:spPr>
        <p:txBody>
          <a:bodyPr wrap="square" rtlCol="0" anchor="ctr"/>
          <a:lstStyle/>
          <a:p>
            <a:pPr marL="0" indent="0">
              <a:buNone/>
            </a:pPr>
            <a:r>
              <a:rPr lang="en-US" sz="1150" dirty="0">
                <a:solidFill>
                  <a:srgbClr val="9A8A7C"/>
                </a:solidFill>
                <a:latin typeface="Calibri" pitchFamily="34" charset="0"/>
                <a:ea typeface="Calibri" pitchFamily="34" charset="-122"/>
                <a:cs typeface="Calibri" pitchFamily="34" charset="-120"/>
              </a:rPr>
              <a:t>Prepared by Rupesh Kumar</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BUSINESS CONTEXT</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62626"/>
                </a:solidFill>
                <a:latin typeface="Cambria" pitchFamily="34" charset="0"/>
                <a:ea typeface="Cambria" pitchFamily="34" charset="-122"/>
                <a:cs typeface="Cambria" pitchFamily="34" charset="-120"/>
              </a:rPr>
              <a:t>Problem Statement</a:t>
            </a:r>
            <a:endParaRPr lang="en-US" sz="30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02</a:t>
            </a:r>
            <a:endParaRPr lang="en-US" sz="1000" dirty="0"/>
          </a:p>
        </p:txBody>
      </p:sp>
      <p:sp>
        <p:nvSpPr>
          <p:cNvPr id="5" name="Shape 3"/>
          <p:cNvSpPr/>
          <p:nvPr/>
        </p:nvSpPr>
        <p:spPr>
          <a:xfrm>
            <a:off x="548640" y="1417320"/>
            <a:ext cx="6720840" cy="4892040"/>
          </a:xfrm>
          <a:prstGeom prst="roundRect">
            <a:avLst>
              <a:gd name="adj" fmla="val 1308"/>
            </a:avLst>
          </a:prstGeom>
          <a:solidFill>
            <a:srgbClr val="FBEEE1"/>
          </a:solidFill>
          <a:ln/>
        </p:spPr>
      </p:sp>
      <p:sp>
        <p:nvSpPr>
          <p:cNvPr id="6" name="Text 4"/>
          <p:cNvSpPr/>
          <p:nvPr/>
        </p:nvSpPr>
        <p:spPr>
          <a:xfrm>
            <a:off x="868680" y="1691640"/>
            <a:ext cx="6035040" cy="365760"/>
          </a:xfrm>
          <a:prstGeom prst="rect">
            <a:avLst/>
          </a:prstGeom>
          <a:noFill/>
          <a:ln/>
        </p:spPr>
        <p:txBody>
          <a:bodyPr wrap="square" rtlCol="0" anchor="ctr"/>
          <a:lstStyle/>
          <a:p>
            <a:pPr marL="0" indent="0">
              <a:buNone/>
            </a:pPr>
            <a:r>
              <a:rPr lang="en-US" sz="1700" b="1" dirty="0">
                <a:solidFill>
                  <a:srgbClr val="7A3406"/>
                </a:solidFill>
                <a:latin typeface="Cambria" pitchFamily="34" charset="0"/>
                <a:ea typeface="Cambria" pitchFamily="34" charset="-122"/>
                <a:cs typeface="Cambria" pitchFamily="34" charset="-120"/>
              </a:rPr>
              <a:t>The Challenge</a:t>
            </a:r>
            <a:endParaRPr lang="en-US" sz="1700" dirty="0"/>
          </a:p>
        </p:txBody>
      </p:sp>
      <p:sp>
        <p:nvSpPr>
          <p:cNvPr id="7" name="Text 5"/>
          <p:cNvSpPr/>
          <p:nvPr/>
        </p:nvSpPr>
        <p:spPr>
          <a:xfrm>
            <a:off x="868680" y="2148840"/>
            <a:ext cx="6035040" cy="3977640"/>
          </a:xfrm>
          <a:prstGeom prst="rect">
            <a:avLst/>
          </a:prstGeom>
          <a:noFill/>
          <a:ln/>
        </p:spPr>
        <p:txBody>
          <a:bodyPr wrap="square" rtlCol="0" anchor="t"/>
          <a:lstStyle/>
          <a:p>
            <a:pPr>
              <a:lnSpc>
                <a:spcPct val="125000"/>
              </a:lnSpc>
            </a:pPr>
            <a:r>
              <a:rPr lang="en-US" sz="1300" b="1" dirty="0">
                <a:solidFill>
                  <a:srgbClr val="262626"/>
                </a:solidFill>
                <a:latin typeface="Calibri" pitchFamily="34" charset="0"/>
                <a:ea typeface="Calibri" pitchFamily="34" charset="-122"/>
                <a:cs typeface="Calibri" pitchFamily="34" charset="-120"/>
              </a:rPr>
              <a:t>Analyze IT support ticket data to evaluate agent performance, ticket resolution efficiency, and employee satisfaction. Identify performance gaps, operational bottlenecks, and high-impact improvement areas to support data-driven decisions around staffing, training, workload allocation, and service quality.</a:t>
            </a:r>
          </a:p>
          <a:p>
            <a:pPr marL="0" indent="0">
              <a:lnSpc>
                <a:spcPct val="125000"/>
              </a:lnSpc>
              <a:buNone/>
            </a:pPr>
            <a:endParaRPr lang="en-US" sz="1300" dirty="0">
              <a:solidFill>
                <a:srgbClr val="262626"/>
              </a:solidFill>
              <a:latin typeface="Calibri" pitchFamily="34" charset="0"/>
              <a:ea typeface="Calibri" pitchFamily="34" charset="-122"/>
              <a:cs typeface="Calibri" pitchFamily="34" charset="-120"/>
            </a:endParaRPr>
          </a:p>
          <a:p>
            <a:pPr marL="0" indent="0">
              <a:lnSpc>
                <a:spcPct val="125000"/>
              </a:lnSpc>
              <a:buNone/>
            </a:pPr>
            <a:r>
              <a:rPr lang="en-US" sz="1300" dirty="0">
                <a:solidFill>
                  <a:srgbClr val="262626"/>
                </a:solidFill>
                <a:latin typeface="Calibri" pitchFamily="34" charset="0"/>
                <a:ea typeface="Calibri" pitchFamily="34" charset="-122"/>
                <a:cs typeface="Calibri" pitchFamily="34" charset="-120"/>
              </a:rPr>
              <a:t>Between 2016 and 2020, the IT service desk fielded 97,498 support tickets from 2,000 employees, handled by a team of 50 agents. Ticket volume nearly tripled over that period, rising from roughly 13,000 tickets in 2016 to over 29,000 in 2020 — and the growth rate is still accelerating. Leadership currently lacks a consolidated, data-driven view of where ticket volume concentrates, how efficiently different issue types are resolved, how consistent service quality is across agents and employee segments, and whether current staffing and triage processes can keep pace with rising demand.</a:t>
            </a:r>
            <a:endParaRPr lang="en-US" sz="1300" dirty="0"/>
          </a:p>
        </p:txBody>
      </p:sp>
      <p:sp>
        <p:nvSpPr>
          <p:cNvPr id="8" name="Text 6"/>
          <p:cNvSpPr/>
          <p:nvPr/>
        </p:nvSpPr>
        <p:spPr>
          <a:xfrm>
            <a:off x="7543800" y="1691640"/>
            <a:ext cx="4114800" cy="365760"/>
          </a:xfrm>
          <a:prstGeom prst="rect">
            <a:avLst/>
          </a:prstGeom>
          <a:noFill/>
          <a:ln/>
        </p:spPr>
        <p:txBody>
          <a:bodyPr wrap="square" rtlCol="0" anchor="ctr"/>
          <a:lstStyle/>
          <a:p>
            <a:pPr marL="0" indent="0">
              <a:buNone/>
            </a:pPr>
            <a:r>
              <a:rPr lang="en-US" sz="1500" b="1" dirty="0">
                <a:solidFill>
                  <a:srgbClr val="262626"/>
                </a:solidFill>
                <a:latin typeface="Cambria" pitchFamily="34" charset="0"/>
                <a:ea typeface="Cambria" pitchFamily="34" charset="-122"/>
                <a:cs typeface="Cambria" pitchFamily="34" charset="-120"/>
              </a:rPr>
              <a:t>This Analysis Answers</a:t>
            </a:r>
            <a:endParaRPr lang="en-US" sz="1500" dirty="0"/>
          </a:p>
        </p:txBody>
      </p:sp>
      <p:sp>
        <p:nvSpPr>
          <p:cNvPr id="9" name="Text 7"/>
          <p:cNvSpPr/>
          <p:nvPr/>
        </p:nvSpPr>
        <p:spPr>
          <a:xfrm>
            <a:off x="7543800" y="2121408"/>
            <a:ext cx="4114800" cy="2743200"/>
          </a:xfrm>
          <a:prstGeom prst="rect">
            <a:avLst/>
          </a:prstGeom>
          <a:noFill/>
          <a:ln/>
        </p:spPr>
        <p:txBody>
          <a:bodyPr wrap="square" rtlCol="0" anchor="t"/>
          <a:lstStyle/>
          <a:p>
            <a:pPr marL="177800" indent="-177800">
              <a:lnSpc>
                <a:spcPct val="115000"/>
              </a:lnSpc>
              <a:spcAft>
                <a:spcPts val="1200"/>
              </a:spcAft>
              <a:buSzPct val="100000"/>
              <a:buChar char="▪"/>
            </a:pPr>
            <a:r>
              <a:rPr lang="en-US" sz="1200" dirty="0">
                <a:solidFill>
                  <a:srgbClr val="262626"/>
                </a:solidFill>
                <a:latin typeface="Calibri" pitchFamily="34" charset="0"/>
                <a:ea typeface="Calibri" pitchFamily="34" charset="-122"/>
                <a:cs typeface="Calibri" pitchFamily="34" charset="-120"/>
              </a:rPr>
              <a:t>Where does ticket volume concentrate, and is it growing sustainably?</a:t>
            </a:r>
            <a:endParaRPr lang="en-US" sz="1200" dirty="0"/>
          </a:p>
          <a:p>
            <a:pPr marL="177800" indent="-177800">
              <a:lnSpc>
                <a:spcPct val="115000"/>
              </a:lnSpc>
              <a:spcAft>
                <a:spcPts val="1200"/>
              </a:spcAft>
              <a:buSzPct val="100000"/>
              <a:buChar char="▪"/>
            </a:pPr>
            <a:r>
              <a:rPr lang="en-US" sz="1200" dirty="0">
                <a:solidFill>
                  <a:srgbClr val="262626"/>
                </a:solidFill>
                <a:latin typeface="Calibri" pitchFamily="34" charset="0"/>
                <a:ea typeface="Calibri" pitchFamily="34" charset="-122"/>
                <a:cs typeface="Calibri" pitchFamily="34" charset="-120"/>
              </a:rPr>
              <a:t>Which issue categories take longest to resolve, and why?</a:t>
            </a:r>
            <a:endParaRPr lang="en-US" sz="1200" dirty="0"/>
          </a:p>
          <a:p>
            <a:pPr marL="177800" indent="-177800">
              <a:lnSpc>
                <a:spcPct val="115000"/>
              </a:lnSpc>
              <a:spcAft>
                <a:spcPts val="1200"/>
              </a:spcAft>
              <a:buSzPct val="100000"/>
              <a:buChar char="▪"/>
            </a:pPr>
            <a:r>
              <a:rPr lang="en-US" sz="1200" dirty="0">
                <a:solidFill>
                  <a:srgbClr val="262626"/>
                </a:solidFill>
                <a:latin typeface="Calibri" pitchFamily="34" charset="0"/>
                <a:ea typeface="Calibri" pitchFamily="34" charset="-122"/>
                <a:cs typeface="Calibri" pitchFamily="34" charset="-120"/>
              </a:rPr>
              <a:t>Are tickets being triaged and prioritized effectively at intake?</a:t>
            </a:r>
            <a:endParaRPr lang="en-US" sz="1200" dirty="0"/>
          </a:p>
          <a:p>
            <a:pPr marL="177800" indent="-177800">
              <a:lnSpc>
                <a:spcPct val="115000"/>
              </a:lnSpc>
              <a:spcAft>
                <a:spcPts val="1200"/>
              </a:spcAft>
              <a:buSzPct val="100000"/>
              <a:buChar char="▪"/>
            </a:pPr>
            <a:r>
              <a:rPr lang="en-US" sz="1200" dirty="0">
                <a:solidFill>
                  <a:srgbClr val="262626"/>
                </a:solidFill>
                <a:latin typeface="Calibri" pitchFamily="34" charset="0"/>
                <a:ea typeface="Calibri" pitchFamily="34" charset="-122"/>
                <a:cs typeface="Calibri" pitchFamily="34" charset="-120"/>
              </a:rPr>
              <a:t>Is employee satisfaction improving, and where are the gaps?</a:t>
            </a:r>
            <a:endParaRPr lang="en-US" sz="1200" dirty="0"/>
          </a:p>
          <a:p>
            <a:pPr marL="177800" indent="-177800">
              <a:lnSpc>
                <a:spcPct val="115000"/>
              </a:lnSpc>
              <a:spcAft>
                <a:spcPts val="1200"/>
              </a:spcAft>
              <a:buSzPct val="100000"/>
              <a:buChar char="▪"/>
            </a:pPr>
            <a:r>
              <a:rPr lang="en-US" sz="1200" dirty="0">
                <a:solidFill>
                  <a:srgbClr val="262626"/>
                </a:solidFill>
                <a:latin typeface="Calibri" pitchFamily="34" charset="0"/>
                <a:ea typeface="Calibri" pitchFamily="34" charset="-122"/>
                <a:cs typeface="Calibri" pitchFamily="34" charset="-120"/>
              </a:rPr>
              <a:t>What should management act on first for the biggest impact?</a:t>
            </a:r>
            <a:endParaRPr lang="en-US" sz="1200" dirty="0"/>
          </a:p>
        </p:txBody>
      </p:sp>
      <p:sp>
        <p:nvSpPr>
          <p:cNvPr id="10" name="Shape 8"/>
          <p:cNvSpPr/>
          <p:nvPr/>
        </p:nvSpPr>
        <p:spPr>
          <a:xfrm>
            <a:off x="7543800" y="5029200"/>
            <a:ext cx="4114800" cy="1280160"/>
          </a:xfrm>
          <a:prstGeom prst="roundRect">
            <a:avLst>
              <a:gd name="adj" fmla="val 4286"/>
            </a:avLst>
          </a:prstGeom>
          <a:solidFill>
            <a:srgbClr val="C1560C"/>
          </a:solidFill>
          <a:ln/>
        </p:spPr>
      </p:sp>
      <p:sp>
        <p:nvSpPr>
          <p:cNvPr id="11" name="Text 9"/>
          <p:cNvSpPr/>
          <p:nvPr/>
        </p:nvSpPr>
        <p:spPr>
          <a:xfrm>
            <a:off x="7726680" y="5138928"/>
            <a:ext cx="3749040" cy="256032"/>
          </a:xfrm>
          <a:prstGeom prst="rect">
            <a:avLst/>
          </a:prstGeom>
          <a:noFill/>
          <a:ln/>
        </p:spPr>
        <p:txBody>
          <a:bodyPr wrap="square"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Business Value</a:t>
            </a:r>
            <a:endParaRPr lang="en-US" sz="1100" dirty="0"/>
          </a:p>
        </p:txBody>
      </p:sp>
      <p:sp>
        <p:nvSpPr>
          <p:cNvPr id="12" name="Text 10"/>
          <p:cNvSpPr/>
          <p:nvPr/>
        </p:nvSpPr>
        <p:spPr>
          <a:xfrm>
            <a:off x="7726680" y="5376672"/>
            <a:ext cx="3749040" cy="822960"/>
          </a:xfrm>
          <a:prstGeom prst="rect">
            <a:avLst/>
          </a:prstGeom>
          <a:noFill/>
          <a:ln/>
        </p:spPr>
        <p:txBody>
          <a:bodyPr wrap="square" rtlCol="0" anchor="t"/>
          <a:lstStyle/>
          <a:p>
            <a:pPr marL="0" indent="0">
              <a:lnSpc>
                <a:spcPct val="110000"/>
              </a:lnSpc>
              <a:buNone/>
            </a:pPr>
            <a:r>
              <a:rPr lang="en-US" sz="1100" dirty="0">
                <a:solidFill>
                  <a:srgbClr val="FFFFFF"/>
                </a:solidFill>
                <a:latin typeface="Calibri" pitchFamily="34" charset="0"/>
                <a:ea typeface="Calibri" pitchFamily="34" charset="-122"/>
                <a:cs typeface="Calibri" pitchFamily="34" charset="-120"/>
              </a:rPr>
              <a:t>A single, reliable view that turns raw ticket data into staffing, process, and training decisions.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FOUNDATION</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62626"/>
                </a:solidFill>
                <a:latin typeface="Cambria" pitchFamily="34" charset="0"/>
                <a:ea typeface="Cambria" pitchFamily="34" charset="-122"/>
                <a:cs typeface="Cambria" pitchFamily="34" charset="-120"/>
              </a:rPr>
              <a:t>Data Overview</a:t>
            </a:r>
            <a:endParaRPr lang="en-US" sz="30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03</a:t>
            </a:r>
            <a:endParaRPr lang="en-US" sz="1000" dirty="0"/>
          </a:p>
        </p:txBody>
      </p:sp>
      <p:sp>
        <p:nvSpPr>
          <p:cNvPr id="5" name="Shape 3"/>
          <p:cNvSpPr/>
          <p:nvPr/>
        </p:nvSpPr>
        <p:spPr>
          <a:xfrm>
            <a:off x="548640" y="1371600"/>
            <a:ext cx="1810512" cy="1051560"/>
          </a:xfrm>
          <a:prstGeom prst="roundRect">
            <a:avLst>
              <a:gd name="adj" fmla="val 5217"/>
            </a:avLst>
          </a:prstGeom>
          <a:solidFill>
            <a:srgbClr val="FBEEE1"/>
          </a:solidFill>
          <a:ln w="9525">
            <a:solidFill>
              <a:srgbClr val="E8CBAE"/>
            </a:solidFill>
            <a:prstDash val="solid"/>
          </a:ln>
        </p:spPr>
      </p:sp>
      <p:sp>
        <p:nvSpPr>
          <p:cNvPr id="6" name="Text 4"/>
          <p:cNvSpPr/>
          <p:nvPr/>
        </p:nvSpPr>
        <p:spPr>
          <a:xfrm>
            <a:off x="640080" y="1463040"/>
            <a:ext cx="1627632" cy="609905"/>
          </a:xfrm>
          <a:prstGeom prst="rect">
            <a:avLst/>
          </a:prstGeom>
          <a:noFill/>
          <a:ln/>
        </p:spPr>
        <p:txBody>
          <a:bodyPr wrap="square" rtlCol="0" anchor="b"/>
          <a:lstStyle/>
          <a:p>
            <a:pPr marL="0" indent="0" algn="ctr">
              <a:buNone/>
            </a:pPr>
            <a:r>
              <a:rPr lang="en-US" sz="2600" b="1" dirty="0">
                <a:solidFill>
                  <a:srgbClr val="C1560C"/>
                </a:solidFill>
                <a:latin typeface="Cambria" pitchFamily="34" charset="0"/>
                <a:ea typeface="Cambria" pitchFamily="34" charset="-122"/>
                <a:cs typeface="Cambria" pitchFamily="34" charset="-120"/>
              </a:rPr>
              <a:t>97,498</a:t>
            </a:r>
            <a:endParaRPr lang="en-US" sz="2600" dirty="0"/>
          </a:p>
        </p:txBody>
      </p:sp>
      <p:sp>
        <p:nvSpPr>
          <p:cNvPr id="7" name="Text 5"/>
          <p:cNvSpPr/>
          <p:nvPr/>
        </p:nvSpPr>
        <p:spPr>
          <a:xfrm>
            <a:off x="640080" y="2044598"/>
            <a:ext cx="1627632" cy="357530"/>
          </a:xfrm>
          <a:prstGeom prst="rect">
            <a:avLst/>
          </a:prstGeom>
          <a:noFill/>
          <a:ln/>
        </p:spPr>
        <p:txBody>
          <a:bodyPr wrap="square" rtlCol="0" anchor="t"/>
          <a:lstStyle/>
          <a:p>
            <a:pPr marL="0" indent="0" algn="ctr">
              <a:buNone/>
            </a:pPr>
            <a:r>
              <a:rPr lang="en-US" sz="1050" dirty="0">
                <a:solidFill>
                  <a:srgbClr val="6B6B6B"/>
                </a:solidFill>
                <a:latin typeface="Calibri" pitchFamily="34" charset="0"/>
                <a:ea typeface="Calibri" pitchFamily="34" charset="-122"/>
                <a:cs typeface="Calibri" pitchFamily="34" charset="-120"/>
              </a:rPr>
              <a:t>Total Tickets</a:t>
            </a:r>
            <a:endParaRPr lang="en-US" sz="1050" dirty="0"/>
          </a:p>
          <a:p>
            <a:pPr marL="0" indent="0" algn="ctr">
              <a:buNone/>
            </a:pPr>
            <a:r>
              <a:rPr lang="en-US" sz="1050" dirty="0">
                <a:solidFill>
                  <a:srgbClr val="6B6B6B"/>
                </a:solidFill>
                <a:latin typeface="Calibri" pitchFamily="34" charset="0"/>
                <a:ea typeface="Calibri" pitchFamily="34" charset="-122"/>
                <a:cs typeface="Calibri" pitchFamily="34" charset="-120"/>
              </a:rPr>
              <a:t>(Cleaned Data)</a:t>
            </a:r>
            <a:endParaRPr lang="en-US" sz="1050" dirty="0"/>
          </a:p>
        </p:txBody>
      </p:sp>
      <p:sp>
        <p:nvSpPr>
          <p:cNvPr id="8" name="Shape 6"/>
          <p:cNvSpPr/>
          <p:nvPr/>
        </p:nvSpPr>
        <p:spPr>
          <a:xfrm>
            <a:off x="2487168" y="1371600"/>
            <a:ext cx="1810512" cy="1051560"/>
          </a:xfrm>
          <a:prstGeom prst="roundRect">
            <a:avLst>
              <a:gd name="adj" fmla="val 5217"/>
            </a:avLst>
          </a:prstGeom>
          <a:solidFill>
            <a:srgbClr val="FBEEE1"/>
          </a:solidFill>
          <a:ln w="9525">
            <a:solidFill>
              <a:srgbClr val="E8CBAE"/>
            </a:solidFill>
            <a:prstDash val="solid"/>
          </a:ln>
        </p:spPr>
      </p:sp>
      <p:sp>
        <p:nvSpPr>
          <p:cNvPr id="9" name="Text 7"/>
          <p:cNvSpPr/>
          <p:nvPr/>
        </p:nvSpPr>
        <p:spPr>
          <a:xfrm>
            <a:off x="2578608" y="1463040"/>
            <a:ext cx="1627632" cy="609905"/>
          </a:xfrm>
          <a:prstGeom prst="rect">
            <a:avLst/>
          </a:prstGeom>
          <a:noFill/>
          <a:ln/>
        </p:spPr>
        <p:txBody>
          <a:bodyPr wrap="square" rtlCol="0" anchor="b"/>
          <a:lstStyle/>
          <a:p>
            <a:pPr marL="0" indent="0" algn="ctr">
              <a:buNone/>
            </a:pPr>
            <a:r>
              <a:rPr lang="en-US" sz="2600" b="1" dirty="0">
                <a:solidFill>
                  <a:srgbClr val="C1560C"/>
                </a:solidFill>
                <a:latin typeface="Cambria" pitchFamily="34" charset="0"/>
                <a:ea typeface="Cambria" pitchFamily="34" charset="-122"/>
                <a:cs typeface="Cambria" pitchFamily="34" charset="-120"/>
              </a:rPr>
              <a:t>50</a:t>
            </a:r>
            <a:endParaRPr lang="en-US" sz="2600" dirty="0"/>
          </a:p>
        </p:txBody>
      </p:sp>
      <p:sp>
        <p:nvSpPr>
          <p:cNvPr id="10" name="Text 8"/>
          <p:cNvSpPr/>
          <p:nvPr/>
        </p:nvSpPr>
        <p:spPr>
          <a:xfrm>
            <a:off x="2578608" y="2044598"/>
            <a:ext cx="1627632" cy="357530"/>
          </a:xfrm>
          <a:prstGeom prst="rect">
            <a:avLst/>
          </a:prstGeom>
          <a:noFill/>
          <a:ln/>
        </p:spPr>
        <p:txBody>
          <a:bodyPr wrap="square" rtlCol="0" anchor="t"/>
          <a:lstStyle/>
          <a:p>
            <a:pPr marL="0" indent="0" algn="ctr">
              <a:buNone/>
            </a:pPr>
            <a:r>
              <a:rPr lang="en-US" sz="1050" dirty="0">
                <a:solidFill>
                  <a:srgbClr val="6B6B6B"/>
                </a:solidFill>
                <a:latin typeface="Calibri" pitchFamily="34" charset="0"/>
                <a:ea typeface="Calibri" pitchFamily="34" charset="-122"/>
                <a:cs typeface="Calibri" pitchFamily="34" charset="-120"/>
              </a:rPr>
              <a:t>IT Agents</a:t>
            </a:r>
            <a:endParaRPr lang="en-US" sz="1050" dirty="0"/>
          </a:p>
        </p:txBody>
      </p:sp>
      <p:sp>
        <p:nvSpPr>
          <p:cNvPr id="14" name="Shape 12"/>
          <p:cNvSpPr/>
          <p:nvPr/>
        </p:nvSpPr>
        <p:spPr>
          <a:xfrm>
            <a:off x="6364224" y="1371600"/>
            <a:ext cx="1810512" cy="1051560"/>
          </a:xfrm>
          <a:prstGeom prst="roundRect">
            <a:avLst>
              <a:gd name="adj" fmla="val 5217"/>
            </a:avLst>
          </a:prstGeom>
          <a:solidFill>
            <a:srgbClr val="FBEEE1"/>
          </a:solidFill>
          <a:ln w="9525">
            <a:solidFill>
              <a:srgbClr val="E8CBAE"/>
            </a:solidFill>
            <a:prstDash val="solid"/>
          </a:ln>
        </p:spPr>
      </p:sp>
      <p:sp>
        <p:nvSpPr>
          <p:cNvPr id="15" name="Text 13"/>
          <p:cNvSpPr/>
          <p:nvPr/>
        </p:nvSpPr>
        <p:spPr>
          <a:xfrm>
            <a:off x="6455664" y="1463040"/>
            <a:ext cx="1627632" cy="609905"/>
          </a:xfrm>
          <a:prstGeom prst="rect">
            <a:avLst/>
          </a:prstGeom>
          <a:noFill/>
          <a:ln/>
        </p:spPr>
        <p:txBody>
          <a:bodyPr wrap="square" rtlCol="0" anchor="b"/>
          <a:lstStyle/>
          <a:p>
            <a:pPr marL="0" indent="0" algn="ctr">
              <a:buNone/>
            </a:pPr>
            <a:r>
              <a:rPr lang="en-US" sz="2000" b="1" dirty="0">
                <a:solidFill>
                  <a:srgbClr val="C1560C"/>
                </a:solidFill>
                <a:latin typeface="Cambria" pitchFamily="34" charset="0"/>
                <a:ea typeface="Cambria" pitchFamily="34" charset="-122"/>
                <a:cs typeface="Cambria" pitchFamily="34" charset="-120"/>
              </a:rPr>
              <a:t>4.55 days</a:t>
            </a:r>
            <a:endParaRPr lang="en-US" sz="2000" dirty="0"/>
          </a:p>
        </p:txBody>
      </p:sp>
      <p:sp>
        <p:nvSpPr>
          <p:cNvPr id="16" name="Text 14"/>
          <p:cNvSpPr/>
          <p:nvPr/>
        </p:nvSpPr>
        <p:spPr>
          <a:xfrm>
            <a:off x="6455664" y="2044598"/>
            <a:ext cx="1627632" cy="357530"/>
          </a:xfrm>
          <a:prstGeom prst="rect">
            <a:avLst/>
          </a:prstGeom>
          <a:noFill/>
          <a:ln/>
        </p:spPr>
        <p:txBody>
          <a:bodyPr wrap="square" rtlCol="0" anchor="t"/>
          <a:lstStyle/>
          <a:p>
            <a:pPr marL="0" indent="0" algn="ctr">
              <a:buNone/>
            </a:pPr>
            <a:r>
              <a:rPr lang="en-US" sz="1050" dirty="0">
                <a:solidFill>
                  <a:srgbClr val="6B6B6B"/>
                </a:solidFill>
                <a:latin typeface="Calibri" pitchFamily="34" charset="0"/>
                <a:ea typeface="Calibri" pitchFamily="34" charset="-122"/>
                <a:cs typeface="Calibri" pitchFamily="34" charset="-120"/>
              </a:rPr>
              <a:t>Avg. Resolution Time</a:t>
            </a:r>
            <a:endParaRPr lang="en-US" sz="1050" dirty="0"/>
          </a:p>
        </p:txBody>
      </p:sp>
      <p:sp>
        <p:nvSpPr>
          <p:cNvPr id="17" name="Shape 15"/>
          <p:cNvSpPr/>
          <p:nvPr/>
        </p:nvSpPr>
        <p:spPr>
          <a:xfrm>
            <a:off x="8302752" y="1371600"/>
            <a:ext cx="1810512" cy="1051560"/>
          </a:xfrm>
          <a:prstGeom prst="roundRect">
            <a:avLst>
              <a:gd name="adj" fmla="val 5217"/>
            </a:avLst>
          </a:prstGeom>
          <a:solidFill>
            <a:srgbClr val="FBEEE1"/>
          </a:solidFill>
          <a:ln w="9525">
            <a:solidFill>
              <a:srgbClr val="E8CBAE"/>
            </a:solidFill>
            <a:prstDash val="solid"/>
          </a:ln>
        </p:spPr>
      </p:sp>
      <p:sp>
        <p:nvSpPr>
          <p:cNvPr id="18" name="Text 16"/>
          <p:cNvSpPr/>
          <p:nvPr/>
        </p:nvSpPr>
        <p:spPr>
          <a:xfrm>
            <a:off x="8394192" y="1463040"/>
            <a:ext cx="1627632" cy="609905"/>
          </a:xfrm>
          <a:prstGeom prst="rect">
            <a:avLst/>
          </a:prstGeom>
          <a:noFill/>
          <a:ln/>
        </p:spPr>
        <p:txBody>
          <a:bodyPr wrap="square" rtlCol="0" anchor="b"/>
          <a:lstStyle/>
          <a:p>
            <a:pPr marL="0" indent="0" algn="ctr">
              <a:buNone/>
            </a:pPr>
            <a:r>
              <a:rPr lang="en-US" sz="2600" b="1" dirty="0">
                <a:solidFill>
                  <a:srgbClr val="C1560C"/>
                </a:solidFill>
                <a:latin typeface="Cambria" pitchFamily="34" charset="0"/>
                <a:ea typeface="Cambria" pitchFamily="34" charset="-122"/>
                <a:cs typeface="Cambria" pitchFamily="34" charset="-120"/>
              </a:rPr>
              <a:t>4.10 / 5</a:t>
            </a:r>
            <a:endParaRPr lang="en-US" sz="2600" dirty="0"/>
          </a:p>
        </p:txBody>
      </p:sp>
      <p:sp>
        <p:nvSpPr>
          <p:cNvPr id="19" name="Text 17"/>
          <p:cNvSpPr/>
          <p:nvPr/>
        </p:nvSpPr>
        <p:spPr>
          <a:xfrm>
            <a:off x="8394192" y="2044598"/>
            <a:ext cx="1627632" cy="357530"/>
          </a:xfrm>
          <a:prstGeom prst="rect">
            <a:avLst/>
          </a:prstGeom>
          <a:noFill/>
          <a:ln/>
        </p:spPr>
        <p:txBody>
          <a:bodyPr wrap="square" rtlCol="0" anchor="t"/>
          <a:lstStyle/>
          <a:p>
            <a:pPr marL="0" indent="0" algn="ctr">
              <a:buNone/>
            </a:pPr>
            <a:r>
              <a:rPr lang="en-US" sz="1050" dirty="0">
                <a:solidFill>
                  <a:srgbClr val="6B6B6B"/>
                </a:solidFill>
                <a:latin typeface="Calibri" pitchFamily="34" charset="0"/>
                <a:ea typeface="Calibri" pitchFamily="34" charset="-122"/>
                <a:cs typeface="Calibri" pitchFamily="34" charset="-120"/>
              </a:rPr>
              <a:t>Avg. Satisfaction Rate</a:t>
            </a:r>
            <a:endParaRPr lang="en-US" sz="1050" dirty="0"/>
          </a:p>
        </p:txBody>
      </p:sp>
      <p:sp>
        <p:nvSpPr>
          <p:cNvPr id="23" name="Shape 21"/>
          <p:cNvSpPr/>
          <p:nvPr/>
        </p:nvSpPr>
        <p:spPr>
          <a:xfrm>
            <a:off x="548640" y="2697480"/>
            <a:ext cx="3611880" cy="1965960"/>
          </a:xfrm>
          <a:prstGeom prst="roundRect">
            <a:avLst>
              <a:gd name="adj" fmla="val 2791"/>
            </a:avLst>
          </a:prstGeom>
          <a:solidFill>
            <a:srgbClr val="FCFAF7"/>
          </a:solidFill>
          <a:ln w="12700">
            <a:solidFill>
              <a:srgbClr val="EEE1D2"/>
            </a:solidFill>
            <a:prstDash val="solid"/>
          </a:ln>
        </p:spPr>
      </p:sp>
      <p:sp>
        <p:nvSpPr>
          <p:cNvPr id="24" name="Shape 22"/>
          <p:cNvSpPr/>
          <p:nvPr/>
        </p:nvSpPr>
        <p:spPr>
          <a:xfrm>
            <a:off x="731520" y="2880360"/>
            <a:ext cx="146304" cy="146304"/>
          </a:xfrm>
          <a:prstGeom prst="roundRect">
            <a:avLst>
              <a:gd name="adj" fmla="val 50000"/>
            </a:avLst>
          </a:prstGeom>
          <a:solidFill>
            <a:srgbClr val="C1560C"/>
          </a:solidFill>
          <a:ln/>
        </p:spPr>
      </p:sp>
      <p:sp>
        <p:nvSpPr>
          <p:cNvPr id="25" name="Text 23"/>
          <p:cNvSpPr/>
          <p:nvPr/>
        </p:nvSpPr>
        <p:spPr>
          <a:xfrm>
            <a:off x="960120" y="2816352"/>
            <a:ext cx="3063240" cy="292608"/>
          </a:xfrm>
          <a:prstGeom prst="rect">
            <a:avLst/>
          </a:prstGeom>
          <a:noFill/>
          <a:ln/>
        </p:spPr>
        <p:txBody>
          <a:bodyPr wrap="square" rtlCol="0" anchor="ctr"/>
          <a:lstStyle/>
          <a:p>
            <a:pPr marL="0" indent="0">
              <a:buNone/>
            </a:pPr>
            <a:r>
              <a:rPr lang="en-US" sz="1450" b="1" dirty="0">
                <a:solidFill>
                  <a:srgbClr val="262626"/>
                </a:solidFill>
                <a:latin typeface="Cambria" pitchFamily="34" charset="0"/>
                <a:ea typeface="Cambria" pitchFamily="34" charset="-122"/>
                <a:cs typeface="Cambria" pitchFamily="34" charset="-120"/>
              </a:rPr>
              <a:t>Tickets</a:t>
            </a:r>
            <a:endParaRPr lang="en-US" sz="1450" dirty="0"/>
          </a:p>
        </p:txBody>
      </p:sp>
      <p:sp>
        <p:nvSpPr>
          <p:cNvPr id="26" name="Text 24"/>
          <p:cNvSpPr/>
          <p:nvPr/>
        </p:nvSpPr>
        <p:spPr>
          <a:xfrm>
            <a:off x="731520" y="3154680"/>
            <a:ext cx="3246120" cy="274320"/>
          </a:xfrm>
          <a:prstGeom prst="rect">
            <a:avLst/>
          </a:prstGeom>
          <a:noFill/>
          <a:ln/>
        </p:spPr>
        <p:txBody>
          <a:bodyPr wrap="square" rtlCol="0" anchor="ctr"/>
          <a:lstStyle/>
          <a:p>
            <a:pPr marL="0" indent="0">
              <a:buNone/>
            </a:pPr>
            <a:r>
              <a:rPr lang="en-US" sz="1100" b="1" dirty="0">
                <a:solidFill>
                  <a:srgbClr val="7A3406"/>
                </a:solidFill>
                <a:latin typeface="Calibri" pitchFamily="34" charset="0"/>
                <a:ea typeface="Calibri" pitchFamily="34" charset="-122"/>
                <a:cs typeface="Calibri" pitchFamily="34" charset="-120"/>
              </a:rPr>
              <a:t>97,498 rows × 10 columns</a:t>
            </a:r>
            <a:endParaRPr lang="en-US" sz="1100" dirty="0"/>
          </a:p>
        </p:txBody>
      </p:sp>
      <p:sp>
        <p:nvSpPr>
          <p:cNvPr id="27" name="Text 25"/>
          <p:cNvSpPr/>
          <p:nvPr/>
        </p:nvSpPr>
        <p:spPr>
          <a:xfrm>
            <a:off x="731520" y="3447288"/>
            <a:ext cx="3246120" cy="1097280"/>
          </a:xfrm>
          <a:prstGeom prst="rect">
            <a:avLst/>
          </a:prstGeom>
          <a:noFill/>
          <a:ln/>
        </p:spPr>
        <p:txBody>
          <a:bodyPr wrap="square" rtlCol="0" anchor="t"/>
          <a:lstStyle/>
          <a:p>
            <a:pPr marL="0" indent="0">
              <a:lnSpc>
                <a:spcPct val="110000"/>
              </a:lnSpc>
              <a:buNone/>
            </a:pPr>
            <a:r>
              <a:rPr lang="en-US" sz="1000" dirty="0">
                <a:solidFill>
                  <a:srgbClr val="6B6B6B"/>
                </a:solidFill>
                <a:latin typeface="Calibri" pitchFamily="34" charset="0"/>
                <a:ea typeface="Calibri" pitchFamily="34" charset="-122"/>
                <a:cs typeface="Calibri" pitchFamily="34" charset="-120"/>
              </a:rPr>
              <a:t>Raw ticket-level export: Ticket ID, Date, Employee ID, Agent ID, Category, Issue Type, Severity, Priority, Resolution Time, Satisfaction Rate, Agent Name.</a:t>
            </a:r>
            <a:endParaRPr lang="en-US" sz="1000" dirty="0"/>
          </a:p>
        </p:txBody>
      </p:sp>
      <p:sp>
        <p:nvSpPr>
          <p:cNvPr id="28" name="Shape 26"/>
          <p:cNvSpPr/>
          <p:nvPr/>
        </p:nvSpPr>
        <p:spPr>
          <a:xfrm>
            <a:off x="4343400" y="2697480"/>
            <a:ext cx="3611880" cy="1965960"/>
          </a:xfrm>
          <a:prstGeom prst="roundRect">
            <a:avLst>
              <a:gd name="adj" fmla="val 2791"/>
            </a:avLst>
          </a:prstGeom>
          <a:solidFill>
            <a:srgbClr val="FCFAF7"/>
          </a:solidFill>
          <a:ln w="12700">
            <a:solidFill>
              <a:srgbClr val="EEE1D2"/>
            </a:solidFill>
            <a:prstDash val="solid"/>
          </a:ln>
        </p:spPr>
      </p:sp>
      <p:sp>
        <p:nvSpPr>
          <p:cNvPr id="29" name="Shape 27"/>
          <p:cNvSpPr/>
          <p:nvPr/>
        </p:nvSpPr>
        <p:spPr>
          <a:xfrm>
            <a:off x="4526280" y="2880360"/>
            <a:ext cx="146304" cy="146304"/>
          </a:xfrm>
          <a:prstGeom prst="roundRect">
            <a:avLst>
              <a:gd name="adj" fmla="val 50000"/>
            </a:avLst>
          </a:prstGeom>
          <a:solidFill>
            <a:srgbClr val="C1560C"/>
          </a:solidFill>
          <a:ln/>
        </p:spPr>
      </p:sp>
      <p:sp>
        <p:nvSpPr>
          <p:cNvPr id="30" name="Text 28"/>
          <p:cNvSpPr/>
          <p:nvPr/>
        </p:nvSpPr>
        <p:spPr>
          <a:xfrm>
            <a:off x="4754880" y="2816352"/>
            <a:ext cx="3063240" cy="292608"/>
          </a:xfrm>
          <a:prstGeom prst="rect">
            <a:avLst/>
          </a:prstGeom>
          <a:noFill/>
          <a:ln/>
        </p:spPr>
        <p:txBody>
          <a:bodyPr wrap="square" rtlCol="0" anchor="ctr"/>
          <a:lstStyle/>
          <a:p>
            <a:pPr marL="0" indent="0">
              <a:buNone/>
            </a:pPr>
            <a:r>
              <a:rPr lang="en-US" sz="1450" b="1" dirty="0">
                <a:solidFill>
                  <a:srgbClr val="262626"/>
                </a:solidFill>
                <a:latin typeface="Cambria" pitchFamily="34" charset="0"/>
                <a:ea typeface="Cambria" pitchFamily="34" charset="-122"/>
                <a:cs typeface="Cambria" pitchFamily="34" charset="-120"/>
              </a:rPr>
              <a:t>IT Agents</a:t>
            </a:r>
            <a:endParaRPr lang="en-US" sz="1450" dirty="0"/>
          </a:p>
        </p:txBody>
      </p:sp>
      <p:sp>
        <p:nvSpPr>
          <p:cNvPr id="31" name="Text 29"/>
          <p:cNvSpPr/>
          <p:nvPr/>
        </p:nvSpPr>
        <p:spPr>
          <a:xfrm>
            <a:off x="4526280" y="3154680"/>
            <a:ext cx="3246120" cy="274320"/>
          </a:xfrm>
          <a:prstGeom prst="rect">
            <a:avLst/>
          </a:prstGeom>
          <a:noFill/>
          <a:ln/>
        </p:spPr>
        <p:txBody>
          <a:bodyPr wrap="square" rtlCol="0" anchor="ctr"/>
          <a:lstStyle/>
          <a:p>
            <a:pPr marL="0" indent="0">
              <a:buNone/>
            </a:pPr>
            <a:r>
              <a:rPr lang="en-US" sz="1100" b="1" dirty="0">
                <a:solidFill>
                  <a:srgbClr val="7A3406"/>
                </a:solidFill>
                <a:latin typeface="Calibri" pitchFamily="34" charset="0"/>
                <a:ea typeface="Calibri" pitchFamily="34" charset="-122"/>
                <a:cs typeface="Calibri" pitchFamily="34" charset="-120"/>
              </a:rPr>
              <a:t>50 rows × 6 columns</a:t>
            </a:r>
            <a:endParaRPr lang="en-US" sz="1100" dirty="0"/>
          </a:p>
        </p:txBody>
      </p:sp>
      <p:sp>
        <p:nvSpPr>
          <p:cNvPr id="32" name="Text 30"/>
          <p:cNvSpPr/>
          <p:nvPr/>
        </p:nvSpPr>
        <p:spPr>
          <a:xfrm>
            <a:off x="4526280" y="3447288"/>
            <a:ext cx="3246120" cy="1097280"/>
          </a:xfrm>
          <a:prstGeom prst="rect">
            <a:avLst/>
          </a:prstGeom>
          <a:noFill/>
          <a:ln/>
        </p:spPr>
        <p:txBody>
          <a:bodyPr wrap="square" rtlCol="0" anchor="t"/>
          <a:lstStyle/>
          <a:p>
            <a:pPr marL="0" indent="0">
              <a:lnSpc>
                <a:spcPct val="110000"/>
              </a:lnSpc>
              <a:buNone/>
            </a:pPr>
            <a:r>
              <a:rPr lang="en-US" sz="1000" dirty="0">
                <a:solidFill>
                  <a:srgbClr val="6B6B6B"/>
                </a:solidFill>
                <a:latin typeface="Calibri" pitchFamily="34" charset="0"/>
                <a:ea typeface="Calibri" pitchFamily="34" charset="-122"/>
                <a:cs typeface="Calibri" pitchFamily="34" charset="-120"/>
              </a:rPr>
              <a:t>Agent reference table: Agent ID, Full Name, Email, Year/Month/Day of Birth, Email Domain, and current Age — joined into ticket data via Agent ID.</a:t>
            </a:r>
            <a:endParaRPr lang="en-US" sz="1000" dirty="0"/>
          </a:p>
        </p:txBody>
      </p:sp>
      <p:sp>
        <p:nvSpPr>
          <p:cNvPr id="33" name="Shape 31"/>
          <p:cNvSpPr/>
          <p:nvPr/>
        </p:nvSpPr>
        <p:spPr>
          <a:xfrm>
            <a:off x="8138160" y="2697480"/>
            <a:ext cx="3611880" cy="1965960"/>
          </a:xfrm>
          <a:prstGeom prst="roundRect">
            <a:avLst>
              <a:gd name="adj" fmla="val 2791"/>
            </a:avLst>
          </a:prstGeom>
          <a:solidFill>
            <a:srgbClr val="FCFAF7"/>
          </a:solidFill>
          <a:ln w="12700">
            <a:solidFill>
              <a:srgbClr val="EEE1D2"/>
            </a:solidFill>
            <a:prstDash val="solid"/>
          </a:ln>
        </p:spPr>
      </p:sp>
      <p:sp>
        <p:nvSpPr>
          <p:cNvPr id="34" name="Shape 32"/>
          <p:cNvSpPr/>
          <p:nvPr/>
        </p:nvSpPr>
        <p:spPr>
          <a:xfrm>
            <a:off x="8321040" y="2880360"/>
            <a:ext cx="146304" cy="146304"/>
          </a:xfrm>
          <a:prstGeom prst="roundRect">
            <a:avLst>
              <a:gd name="adj" fmla="val 50000"/>
            </a:avLst>
          </a:prstGeom>
          <a:solidFill>
            <a:srgbClr val="C1560C"/>
          </a:solidFill>
          <a:ln/>
        </p:spPr>
      </p:sp>
      <p:sp>
        <p:nvSpPr>
          <p:cNvPr id="35" name="Text 33"/>
          <p:cNvSpPr/>
          <p:nvPr/>
        </p:nvSpPr>
        <p:spPr>
          <a:xfrm>
            <a:off x="8549640" y="2816352"/>
            <a:ext cx="3063240" cy="292608"/>
          </a:xfrm>
          <a:prstGeom prst="rect">
            <a:avLst/>
          </a:prstGeom>
          <a:noFill/>
          <a:ln/>
        </p:spPr>
        <p:txBody>
          <a:bodyPr wrap="square" rtlCol="0" anchor="ctr"/>
          <a:lstStyle/>
          <a:p>
            <a:pPr marL="0" indent="0">
              <a:buNone/>
            </a:pPr>
            <a:r>
              <a:rPr lang="en-US" sz="1450" b="1" dirty="0">
                <a:solidFill>
                  <a:srgbClr val="262626"/>
                </a:solidFill>
                <a:latin typeface="Cambria" pitchFamily="34" charset="0"/>
                <a:ea typeface="Cambria" pitchFamily="34" charset="-122"/>
                <a:cs typeface="Cambria" pitchFamily="34" charset="-120"/>
              </a:rPr>
              <a:t>Cleaned Data</a:t>
            </a:r>
            <a:endParaRPr lang="en-US" sz="1450" dirty="0"/>
          </a:p>
        </p:txBody>
      </p:sp>
      <p:sp>
        <p:nvSpPr>
          <p:cNvPr id="36" name="Text 34"/>
          <p:cNvSpPr/>
          <p:nvPr/>
        </p:nvSpPr>
        <p:spPr>
          <a:xfrm>
            <a:off x="8321040" y="3154680"/>
            <a:ext cx="3246120" cy="274320"/>
          </a:xfrm>
          <a:prstGeom prst="rect">
            <a:avLst/>
          </a:prstGeom>
          <a:noFill/>
          <a:ln/>
        </p:spPr>
        <p:txBody>
          <a:bodyPr wrap="square" rtlCol="0" anchor="ctr"/>
          <a:lstStyle/>
          <a:p>
            <a:pPr marL="0" indent="0">
              <a:buNone/>
            </a:pPr>
            <a:r>
              <a:rPr lang="en-US" sz="1100" b="1" dirty="0">
                <a:solidFill>
                  <a:srgbClr val="7A3406"/>
                </a:solidFill>
                <a:latin typeface="Calibri" pitchFamily="34" charset="0"/>
                <a:ea typeface="Calibri" pitchFamily="34" charset="-122"/>
                <a:cs typeface="Calibri" pitchFamily="34" charset="-120"/>
              </a:rPr>
              <a:t>97,498 rows × 21 columns</a:t>
            </a:r>
            <a:endParaRPr lang="en-US" sz="1100" dirty="0"/>
          </a:p>
        </p:txBody>
      </p:sp>
      <p:sp>
        <p:nvSpPr>
          <p:cNvPr id="37" name="Text 35"/>
          <p:cNvSpPr/>
          <p:nvPr/>
        </p:nvSpPr>
        <p:spPr>
          <a:xfrm>
            <a:off x="8321040" y="3447288"/>
            <a:ext cx="3246120" cy="1097280"/>
          </a:xfrm>
          <a:prstGeom prst="rect">
            <a:avLst/>
          </a:prstGeom>
          <a:noFill/>
          <a:ln/>
        </p:spPr>
        <p:txBody>
          <a:bodyPr wrap="square" rtlCol="0" anchor="t"/>
          <a:lstStyle/>
          <a:p>
            <a:pPr marL="0" indent="0">
              <a:lnSpc>
                <a:spcPct val="110000"/>
              </a:lnSpc>
              <a:buNone/>
            </a:pPr>
            <a:r>
              <a:rPr lang="en-US" sz="1000" dirty="0">
                <a:solidFill>
                  <a:srgbClr val="6B6B6B"/>
                </a:solidFill>
                <a:latin typeface="Calibri" pitchFamily="34" charset="0"/>
                <a:ea typeface="Calibri" pitchFamily="34" charset="-122"/>
                <a:cs typeface="Calibri" pitchFamily="34" charset="-120"/>
              </a:rPr>
              <a:t>Analysis-ready dataset: standardizes labels (e.g. “Unclassified”, “Unassigned”) and adds derived fields — Year, Quarter, Month-Year, Day of Week, Age Band, and parsed Email fields.</a:t>
            </a:r>
            <a:endParaRPr lang="en-US" sz="1000" dirty="0"/>
          </a:p>
        </p:txBody>
      </p:sp>
      <p:sp>
        <p:nvSpPr>
          <p:cNvPr id="38" name="Shape 36"/>
          <p:cNvSpPr/>
          <p:nvPr/>
        </p:nvSpPr>
        <p:spPr>
          <a:xfrm>
            <a:off x="548640" y="4892040"/>
            <a:ext cx="11091672" cy="1417320"/>
          </a:xfrm>
          <a:prstGeom prst="roundRect">
            <a:avLst>
              <a:gd name="adj" fmla="val 3871"/>
            </a:avLst>
          </a:prstGeom>
          <a:solidFill>
            <a:srgbClr val="FBEEE1"/>
          </a:solidFill>
          <a:ln/>
        </p:spPr>
      </p:sp>
      <p:sp>
        <p:nvSpPr>
          <p:cNvPr id="39" name="Text 37"/>
          <p:cNvSpPr/>
          <p:nvPr/>
        </p:nvSpPr>
        <p:spPr>
          <a:xfrm>
            <a:off x="777240" y="5020056"/>
            <a:ext cx="10607040" cy="274320"/>
          </a:xfrm>
          <a:prstGeom prst="rect">
            <a:avLst/>
          </a:prstGeom>
          <a:noFill/>
          <a:ln/>
        </p:spPr>
        <p:txBody>
          <a:bodyPr wrap="square" rtlCol="0" anchor="ctr"/>
          <a:lstStyle/>
          <a:p>
            <a:pPr marL="0" indent="0">
              <a:buNone/>
            </a:pPr>
            <a:r>
              <a:rPr lang="en-US" sz="1200" b="1" dirty="0">
                <a:solidFill>
                  <a:srgbClr val="7A3406"/>
                </a:solidFill>
                <a:latin typeface="Calibri" pitchFamily="34" charset="0"/>
                <a:ea typeface="Calibri" pitchFamily="34" charset="-122"/>
                <a:cs typeface="Calibri" pitchFamily="34" charset="-120"/>
              </a:rPr>
              <a:t>How the datasets connect &amp; data quality</a:t>
            </a:r>
            <a:endParaRPr lang="en-US" sz="1200" dirty="0"/>
          </a:p>
        </p:txBody>
      </p:sp>
      <p:sp>
        <p:nvSpPr>
          <p:cNvPr id="40" name="Text 38"/>
          <p:cNvSpPr/>
          <p:nvPr/>
        </p:nvSpPr>
        <p:spPr>
          <a:xfrm>
            <a:off x="777240" y="5312664"/>
            <a:ext cx="10607040" cy="914400"/>
          </a:xfrm>
          <a:prstGeom prst="rect">
            <a:avLst/>
          </a:prstGeom>
          <a:noFill/>
          <a:ln/>
        </p:spPr>
        <p:txBody>
          <a:bodyPr wrap="square" rtlCol="0" anchor="t"/>
          <a:lstStyle/>
          <a:p>
            <a:pPr marL="0" indent="0">
              <a:lnSpc>
                <a:spcPct val="115000"/>
              </a:lnSpc>
              <a:buNone/>
            </a:pPr>
            <a:r>
              <a:rPr lang="en-US" sz="1100" dirty="0">
                <a:solidFill>
                  <a:srgbClr val="262626"/>
                </a:solidFill>
                <a:latin typeface="Calibri" pitchFamily="34" charset="0"/>
                <a:ea typeface="Calibri" pitchFamily="34" charset="-122"/>
                <a:cs typeface="Calibri" pitchFamily="34" charset="-120"/>
              </a:rPr>
              <a:t>Tickets and Cleaned Data share a 1:1 ticket record, joined to IT Agents through Agent ID to bring in agent age and identity. Cleaned Data is the standardized, analysis-ready version of Tickets: it corrects inconsistent labels found in the raw export (e.g. “0 - Unclasified” -&gt; “0 - Unclassified”) and adds derived time and demographic fields — evidence of a deliberate data-preparation step prior to dashboarding.</a:t>
            </a:r>
            <a:endParaRPr lang="en-US" sz="1100" dirty="0"/>
          </a:p>
        </p:txBody>
      </p:sp>
      <p:grpSp>
        <p:nvGrpSpPr>
          <p:cNvPr id="44" name="Group 43">
            <a:extLst>
              <a:ext uri="{FF2B5EF4-FFF2-40B4-BE49-F238E27FC236}">
                <a16:creationId xmlns:a16="http://schemas.microsoft.com/office/drawing/2014/main" id="{BA11333D-62FC-B21D-E056-D83829855C43}"/>
              </a:ext>
            </a:extLst>
          </p:cNvPr>
          <p:cNvGrpSpPr/>
          <p:nvPr/>
        </p:nvGrpSpPr>
        <p:grpSpPr>
          <a:xfrm>
            <a:off x="4427913" y="1386960"/>
            <a:ext cx="1810512" cy="1051560"/>
            <a:chOff x="10241280" y="1371600"/>
            <a:chExt cx="1810512" cy="1051560"/>
          </a:xfrm>
        </p:grpSpPr>
        <p:sp>
          <p:nvSpPr>
            <p:cNvPr id="41" name="Shape 18"/>
            <p:cNvSpPr/>
            <p:nvPr/>
          </p:nvSpPr>
          <p:spPr>
            <a:xfrm>
              <a:off x="10241280" y="1371600"/>
              <a:ext cx="1810512" cy="1051560"/>
            </a:xfrm>
            <a:prstGeom prst="roundRect">
              <a:avLst>
                <a:gd name="adj" fmla="val 5217"/>
              </a:avLst>
            </a:prstGeom>
            <a:solidFill>
              <a:srgbClr val="FBEEE1"/>
            </a:solidFill>
            <a:ln w="9525">
              <a:solidFill>
                <a:srgbClr val="E8CBAE"/>
              </a:solidFill>
              <a:prstDash val="solid"/>
            </a:ln>
          </p:spPr>
        </p:sp>
        <p:sp>
          <p:nvSpPr>
            <p:cNvPr id="42" name="Text 19"/>
            <p:cNvSpPr/>
            <p:nvPr/>
          </p:nvSpPr>
          <p:spPr>
            <a:xfrm>
              <a:off x="10332720" y="1463040"/>
              <a:ext cx="1627632" cy="609905"/>
            </a:xfrm>
            <a:prstGeom prst="rect">
              <a:avLst/>
            </a:prstGeom>
            <a:noFill/>
            <a:ln/>
          </p:spPr>
          <p:txBody>
            <a:bodyPr wrap="square" rtlCol="0" anchor="b"/>
            <a:lstStyle/>
            <a:p>
              <a:pPr marL="0" indent="0" algn="ctr">
                <a:buNone/>
              </a:pPr>
              <a:r>
                <a:rPr lang="en-US" sz="2000" b="1" dirty="0">
                  <a:solidFill>
                    <a:srgbClr val="C1560C"/>
                  </a:solidFill>
                  <a:latin typeface="Cambria" pitchFamily="34" charset="0"/>
                  <a:ea typeface="Cambria" pitchFamily="34" charset="-122"/>
                  <a:cs typeface="Cambria" pitchFamily="34" charset="-120"/>
                </a:rPr>
                <a:t>2016–2020</a:t>
              </a:r>
              <a:endParaRPr lang="en-US" sz="2000" dirty="0"/>
            </a:p>
          </p:txBody>
        </p:sp>
        <p:sp>
          <p:nvSpPr>
            <p:cNvPr id="43" name="Text 20"/>
            <p:cNvSpPr/>
            <p:nvPr/>
          </p:nvSpPr>
          <p:spPr>
            <a:xfrm>
              <a:off x="10332720" y="2044598"/>
              <a:ext cx="1627632" cy="357530"/>
            </a:xfrm>
            <a:prstGeom prst="rect">
              <a:avLst/>
            </a:prstGeom>
            <a:noFill/>
            <a:ln/>
          </p:spPr>
          <p:txBody>
            <a:bodyPr wrap="square" rtlCol="0" anchor="t"/>
            <a:lstStyle/>
            <a:p>
              <a:pPr marL="0" indent="0" algn="ctr">
                <a:buNone/>
              </a:pPr>
              <a:r>
                <a:rPr lang="en-US" sz="1050" dirty="0">
                  <a:solidFill>
                    <a:srgbClr val="6B6B6B"/>
                  </a:solidFill>
                  <a:latin typeface="Calibri" pitchFamily="34" charset="0"/>
                  <a:ea typeface="Calibri" pitchFamily="34" charset="-122"/>
                  <a:cs typeface="Calibri" pitchFamily="34" charset="-120"/>
                </a:rPr>
                <a:t>Date Range Covered</a:t>
              </a:r>
              <a:endParaRPr lang="en-US" sz="105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DASHBOARD ANALYSIS  ·  1/9</a:t>
            </a:r>
            <a:endParaRPr lang="en-US" sz="1200" dirty="0"/>
          </a:p>
        </p:txBody>
      </p:sp>
      <p:sp>
        <p:nvSpPr>
          <p:cNvPr id="3" name="Text 1"/>
          <p:cNvSpPr/>
          <p:nvPr/>
        </p:nvSpPr>
        <p:spPr>
          <a:xfrm>
            <a:off x="548640" y="566928"/>
            <a:ext cx="7315200" cy="640080"/>
          </a:xfrm>
          <a:prstGeom prst="rect">
            <a:avLst/>
          </a:prstGeom>
          <a:noFill/>
          <a:ln/>
        </p:spPr>
        <p:txBody>
          <a:bodyPr wrap="square" rtlCol="0" anchor="ctr"/>
          <a:lstStyle/>
          <a:p>
            <a:pPr marL="0" indent="0">
              <a:buNone/>
            </a:pPr>
            <a:r>
              <a:rPr lang="en-US" sz="2500" b="1" dirty="0">
                <a:solidFill>
                  <a:srgbClr val="262626"/>
                </a:solidFill>
                <a:latin typeface="Cambria" pitchFamily="34" charset="0"/>
                <a:ea typeface="Cambria" pitchFamily="34" charset="-122"/>
                <a:cs typeface="Cambria" pitchFamily="34" charset="-120"/>
              </a:rPr>
              <a:t>Ticket Volume Trend by Month</a:t>
            </a:r>
            <a:endParaRPr lang="en-US" sz="2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04</a:t>
            </a:r>
            <a:endParaRPr lang="en-US" sz="1000" dirty="0"/>
          </a:p>
        </p:txBody>
      </p:sp>
      <p:sp>
        <p:nvSpPr>
          <p:cNvPr id="7" name="Text 4"/>
          <p:cNvSpPr/>
          <p:nvPr/>
        </p:nvSpPr>
        <p:spPr>
          <a:xfrm>
            <a:off x="7772400" y="566928"/>
            <a:ext cx="3916375" cy="274320"/>
          </a:xfrm>
          <a:prstGeom prst="rect">
            <a:avLst/>
          </a:prstGeom>
          <a:noFill/>
          <a:ln/>
        </p:spPr>
        <p:txBody>
          <a:bodyPr wrap="square" rtlCol="0" anchor="ctr"/>
          <a:lstStyle/>
          <a:p>
            <a:pPr marL="0" indent="0">
              <a:buNone/>
            </a:pPr>
            <a:r>
              <a:rPr lang="en-US" sz="1250" b="1" kern="0" spc="100" dirty="0">
                <a:solidFill>
                  <a:srgbClr val="C1560C"/>
                </a:solidFill>
                <a:latin typeface="Calibri" pitchFamily="34" charset="0"/>
                <a:ea typeface="Calibri" pitchFamily="34" charset="-122"/>
                <a:cs typeface="Calibri" pitchFamily="34" charset="-120"/>
              </a:rPr>
              <a:t>KEY INSIGHTS</a:t>
            </a:r>
            <a:endParaRPr lang="en-US" sz="1250" dirty="0"/>
          </a:p>
        </p:txBody>
      </p:sp>
      <p:sp>
        <p:nvSpPr>
          <p:cNvPr id="8" name="Text 5"/>
          <p:cNvSpPr/>
          <p:nvPr/>
        </p:nvSpPr>
        <p:spPr>
          <a:xfrm>
            <a:off x="7772400" y="896112"/>
            <a:ext cx="3916375" cy="2148840"/>
          </a:xfrm>
          <a:prstGeom prst="rect">
            <a:avLst/>
          </a:prstGeom>
          <a:noFill/>
          <a:ln/>
        </p:spPr>
        <p:txBody>
          <a:bodyPr wrap="square" rtlCol="0" anchor="t"/>
          <a:lstStyle/>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Volume is fairly stable year-round (7,242–8,495), but the second half of the year runs consistently higher — Aug, Sep, Oct and Dec all exceed 8,200 tickets, roughly 12–17% above the January low.</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January is the clear trough (7,242), suggesting reduced activity right after year-end, while October is the single busiest month (8,495).</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The 17% spread between the lowest and highest month is a moderate but real seasonal swing worth planning around rather than dismissing as noise.</a:t>
            </a:r>
            <a:endParaRPr lang="en-US" sz="1150" dirty="0"/>
          </a:p>
        </p:txBody>
      </p:sp>
      <p:sp>
        <p:nvSpPr>
          <p:cNvPr id="9" name="Shape 6"/>
          <p:cNvSpPr/>
          <p:nvPr/>
        </p:nvSpPr>
        <p:spPr>
          <a:xfrm>
            <a:off x="7772400" y="3136392"/>
            <a:ext cx="3916375" cy="1051560"/>
          </a:xfrm>
          <a:prstGeom prst="roundRect">
            <a:avLst>
              <a:gd name="adj" fmla="val 4348"/>
            </a:avLst>
          </a:prstGeom>
          <a:solidFill>
            <a:srgbClr val="FBEEE1"/>
          </a:solidFill>
          <a:ln/>
        </p:spPr>
      </p:sp>
      <p:sp>
        <p:nvSpPr>
          <p:cNvPr id="10" name="Text 7"/>
          <p:cNvSpPr/>
          <p:nvPr/>
        </p:nvSpPr>
        <p:spPr>
          <a:xfrm>
            <a:off x="7909560" y="3227832"/>
            <a:ext cx="3642055" cy="219456"/>
          </a:xfrm>
          <a:prstGeom prst="rect">
            <a:avLst/>
          </a:prstGeom>
          <a:noFill/>
          <a:ln/>
        </p:spPr>
        <p:txBody>
          <a:bodyPr wrap="square" rtlCol="0" anchor="ctr"/>
          <a:lstStyle/>
          <a:p>
            <a:pPr marL="0" indent="0">
              <a:buNone/>
            </a:pPr>
            <a:r>
              <a:rPr lang="en-US" sz="1050" b="1" kern="0" spc="100" dirty="0">
                <a:solidFill>
                  <a:srgbClr val="7A3406"/>
                </a:solidFill>
                <a:latin typeface="Calibri" pitchFamily="34" charset="0"/>
                <a:ea typeface="Calibri" pitchFamily="34" charset="-122"/>
                <a:cs typeface="Calibri" pitchFamily="34" charset="-120"/>
              </a:rPr>
              <a:t>APPROACH</a:t>
            </a:r>
            <a:endParaRPr lang="en-US" sz="1050" dirty="0"/>
          </a:p>
        </p:txBody>
      </p:sp>
      <p:sp>
        <p:nvSpPr>
          <p:cNvPr id="11" name="Text 8"/>
          <p:cNvSpPr/>
          <p:nvPr/>
        </p:nvSpPr>
        <p:spPr>
          <a:xfrm>
            <a:off x="7909560" y="3447288"/>
            <a:ext cx="3642055" cy="685800"/>
          </a:xfrm>
          <a:prstGeom prst="rect">
            <a:avLst/>
          </a:prstGeom>
          <a:noFill/>
          <a:ln/>
        </p:spPr>
        <p:txBody>
          <a:bodyPr wrap="square" rtlCol="0" anchor="t"/>
          <a:lstStyle/>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Seasonality analysis of ticket counts aggregated by calendar month across all five years (2016–2020).</a:t>
            </a:r>
            <a:endParaRPr lang="en-US" sz="1050" dirty="0"/>
          </a:p>
        </p:txBody>
      </p:sp>
      <p:sp>
        <p:nvSpPr>
          <p:cNvPr id="12" name="Shape 9"/>
          <p:cNvSpPr/>
          <p:nvPr/>
        </p:nvSpPr>
        <p:spPr>
          <a:xfrm>
            <a:off x="7772400" y="4325112"/>
            <a:ext cx="3916375" cy="2075688"/>
          </a:xfrm>
          <a:prstGeom prst="roundRect">
            <a:avLst>
              <a:gd name="adj" fmla="val 2203"/>
            </a:avLst>
          </a:prstGeom>
          <a:solidFill>
            <a:srgbClr val="C1560C"/>
          </a:solidFill>
          <a:ln/>
        </p:spPr>
      </p:sp>
      <p:sp>
        <p:nvSpPr>
          <p:cNvPr id="13" name="Text 10"/>
          <p:cNvSpPr/>
          <p:nvPr/>
        </p:nvSpPr>
        <p:spPr>
          <a:xfrm>
            <a:off x="7909560" y="4416552"/>
            <a:ext cx="3642055" cy="219456"/>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RECOMMENDATION</a:t>
            </a:r>
            <a:endParaRPr lang="en-US" sz="1050" dirty="0"/>
          </a:p>
        </p:txBody>
      </p:sp>
      <p:sp>
        <p:nvSpPr>
          <p:cNvPr id="14" name="Text 11"/>
          <p:cNvSpPr/>
          <p:nvPr/>
        </p:nvSpPr>
        <p:spPr>
          <a:xfrm>
            <a:off x="7909560" y="4636008"/>
            <a:ext cx="3642055" cy="1673352"/>
          </a:xfrm>
          <a:prstGeom prst="rect">
            <a:avLst/>
          </a:prstGeom>
          <a:noFill/>
          <a:ln/>
        </p:spPr>
        <p:txBody>
          <a:bodyPr wrap="square" rtlCol="0" anchor="t"/>
          <a:lstStyle/>
          <a:p>
            <a:pPr marL="0" indent="0">
              <a:lnSpc>
                <a:spcPct val="105000"/>
              </a:lnSpc>
              <a:buNone/>
            </a:pPr>
            <a:r>
              <a:rPr lang="en-US" sz="1050" dirty="0">
                <a:solidFill>
                  <a:srgbClr val="FFFFFF"/>
                </a:solidFill>
                <a:latin typeface="Calibri" pitchFamily="34" charset="0"/>
                <a:ea typeface="Calibri" pitchFamily="34" charset="-122"/>
                <a:cs typeface="Calibri" pitchFamily="34" charset="-120"/>
              </a:rPr>
              <a:t>Shift a portion of agent capacity toward Aug–Oct and December to match the recurring seasonal peak, rather than staffing all months identically.</a:t>
            </a:r>
            <a:endParaRPr lang="en-US" sz="1050" dirty="0"/>
          </a:p>
        </p:txBody>
      </p:sp>
      <p:graphicFrame>
        <p:nvGraphicFramePr>
          <p:cNvPr id="15" name="Chart 14">
            <a:extLst>
              <a:ext uri="{FF2B5EF4-FFF2-40B4-BE49-F238E27FC236}">
                <a16:creationId xmlns:a16="http://schemas.microsoft.com/office/drawing/2014/main" id="{80E5FDEA-C543-4CE9-A3DA-88DECCAB3C38}"/>
              </a:ext>
            </a:extLst>
          </p:cNvPr>
          <p:cNvGraphicFramePr>
            <a:graphicFrameLocks/>
          </p:cNvGraphicFramePr>
          <p:nvPr>
            <p:extLst>
              <p:ext uri="{D42A27DB-BD31-4B8C-83A1-F6EECF244321}">
                <p14:modId xmlns:p14="http://schemas.microsoft.com/office/powerpoint/2010/main" val="3493122504"/>
              </p:ext>
            </p:extLst>
          </p:nvPr>
        </p:nvGraphicFramePr>
        <p:xfrm>
          <a:off x="548640" y="1489780"/>
          <a:ext cx="6372113" cy="49110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DASHBOARD ANALYSIS  ·  2/9</a:t>
            </a:r>
            <a:endParaRPr lang="en-US" sz="1200" dirty="0"/>
          </a:p>
        </p:txBody>
      </p:sp>
      <p:sp>
        <p:nvSpPr>
          <p:cNvPr id="3" name="Text 1"/>
          <p:cNvSpPr/>
          <p:nvPr/>
        </p:nvSpPr>
        <p:spPr>
          <a:xfrm>
            <a:off x="548640" y="566928"/>
            <a:ext cx="7315200" cy="640080"/>
          </a:xfrm>
          <a:prstGeom prst="rect">
            <a:avLst/>
          </a:prstGeom>
          <a:noFill/>
          <a:ln/>
        </p:spPr>
        <p:txBody>
          <a:bodyPr wrap="square" rtlCol="0" anchor="ctr"/>
          <a:lstStyle/>
          <a:p>
            <a:pPr marL="0" indent="0">
              <a:buNone/>
            </a:pPr>
            <a:r>
              <a:rPr lang="en-US" sz="2500" b="1" dirty="0">
                <a:solidFill>
                  <a:srgbClr val="262626"/>
                </a:solidFill>
                <a:latin typeface="Cambria" pitchFamily="34" charset="0"/>
                <a:ea typeface="Cambria" pitchFamily="34" charset="-122"/>
                <a:cs typeface="Cambria" pitchFamily="34" charset="-120"/>
              </a:rPr>
              <a:t>Ticket Category Distribution</a:t>
            </a:r>
            <a:endParaRPr lang="en-US" sz="2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05</a:t>
            </a:r>
            <a:endParaRPr lang="en-US" sz="1000" dirty="0"/>
          </a:p>
        </p:txBody>
      </p:sp>
      <p:sp>
        <p:nvSpPr>
          <p:cNvPr id="7" name="Text 4"/>
          <p:cNvSpPr/>
          <p:nvPr/>
        </p:nvSpPr>
        <p:spPr>
          <a:xfrm>
            <a:off x="7772400" y="566928"/>
            <a:ext cx="3916375" cy="274320"/>
          </a:xfrm>
          <a:prstGeom prst="rect">
            <a:avLst/>
          </a:prstGeom>
          <a:noFill/>
          <a:ln/>
        </p:spPr>
        <p:txBody>
          <a:bodyPr wrap="square" rtlCol="0" anchor="ctr"/>
          <a:lstStyle/>
          <a:p>
            <a:pPr marL="0" indent="0">
              <a:buNone/>
            </a:pPr>
            <a:r>
              <a:rPr lang="en-US" sz="1250" b="1" kern="0" spc="100" dirty="0">
                <a:solidFill>
                  <a:srgbClr val="C1560C"/>
                </a:solidFill>
                <a:latin typeface="Calibri" pitchFamily="34" charset="0"/>
                <a:ea typeface="Calibri" pitchFamily="34" charset="-122"/>
                <a:cs typeface="Calibri" pitchFamily="34" charset="-120"/>
              </a:rPr>
              <a:t>KEY INSIGHTS</a:t>
            </a:r>
            <a:endParaRPr lang="en-US" sz="1250" dirty="0"/>
          </a:p>
        </p:txBody>
      </p:sp>
      <p:sp>
        <p:nvSpPr>
          <p:cNvPr id="8" name="Text 5"/>
          <p:cNvSpPr/>
          <p:nvPr/>
        </p:nvSpPr>
        <p:spPr>
          <a:xfrm>
            <a:off x="7772400" y="896112"/>
            <a:ext cx="3916375" cy="2148840"/>
          </a:xfrm>
          <a:prstGeom prst="rect">
            <a:avLst/>
          </a:prstGeom>
          <a:noFill/>
          <a:ln/>
        </p:spPr>
        <p:txBody>
          <a:bodyPr wrap="square" rtlCol="0" anchor="t"/>
          <a:lstStyle/>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System issues are the single largest driver of ticket volume at 40% (39,002 tickets) — four times the share of Hardware (10%).</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System and Login Access together account for 70% of all tickets, meaning the majority of the desk’s workload is concentrated in just two categories.</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Hardware, while the smallest category by volume (10%), turns out to be the slowest to resolve — volume share alone understates its operational cost.</a:t>
            </a:r>
            <a:endParaRPr lang="en-US" sz="1150" dirty="0"/>
          </a:p>
        </p:txBody>
      </p:sp>
      <p:sp>
        <p:nvSpPr>
          <p:cNvPr id="9" name="Shape 6"/>
          <p:cNvSpPr/>
          <p:nvPr/>
        </p:nvSpPr>
        <p:spPr>
          <a:xfrm>
            <a:off x="7772400" y="3136392"/>
            <a:ext cx="3916375" cy="1051560"/>
          </a:xfrm>
          <a:prstGeom prst="roundRect">
            <a:avLst>
              <a:gd name="adj" fmla="val 4348"/>
            </a:avLst>
          </a:prstGeom>
          <a:solidFill>
            <a:srgbClr val="FBEEE1"/>
          </a:solidFill>
          <a:ln/>
        </p:spPr>
      </p:sp>
      <p:sp>
        <p:nvSpPr>
          <p:cNvPr id="10" name="Text 7"/>
          <p:cNvSpPr/>
          <p:nvPr/>
        </p:nvSpPr>
        <p:spPr>
          <a:xfrm>
            <a:off x="7909560" y="3227832"/>
            <a:ext cx="3642055" cy="219456"/>
          </a:xfrm>
          <a:prstGeom prst="rect">
            <a:avLst/>
          </a:prstGeom>
          <a:noFill/>
          <a:ln/>
        </p:spPr>
        <p:txBody>
          <a:bodyPr wrap="square" rtlCol="0" anchor="ctr"/>
          <a:lstStyle/>
          <a:p>
            <a:pPr marL="0" indent="0">
              <a:buNone/>
            </a:pPr>
            <a:r>
              <a:rPr lang="en-US" sz="1050" b="1" kern="0" spc="100" dirty="0">
                <a:solidFill>
                  <a:srgbClr val="7A3406"/>
                </a:solidFill>
                <a:latin typeface="Calibri" pitchFamily="34" charset="0"/>
                <a:ea typeface="Calibri" pitchFamily="34" charset="-122"/>
                <a:cs typeface="Calibri" pitchFamily="34" charset="-120"/>
              </a:rPr>
              <a:t>APPROACH</a:t>
            </a:r>
            <a:endParaRPr lang="en-US" sz="1050" dirty="0"/>
          </a:p>
        </p:txBody>
      </p:sp>
      <p:sp>
        <p:nvSpPr>
          <p:cNvPr id="11" name="Text 8"/>
          <p:cNvSpPr/>
          <p:nvPr/>
        </p:nvSpPr>
        <p:spPr>
          <a:xfrm>
            <a:off x="7909560" y="3447288"/>
            <a:ext cx="3642055" cy="685800"/>
          </a:xfrm>
          <a:prstGeom prst="rect">
            <a:avLst/>
          </a:prstGeom>
          <a:noFill/>
          <a:ln/>
        </p:spPr>
        <p:txBody>
          <a:bodyPr wrap="square" rtlCol="0" anchor="t"/>
          <a:lstStyle/>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Composition analysis of ticket volume by request category.</a:t>
            </a:r>
            <a:endParaRPr lang="en-US" sz="1050" dirty="0"/>
          </a:p>
        </p:txBody>
      </p:sp>
      <p:sp>
        <p:nvSpPr>
          <p:cNvPr id="12" name="Shape 9"/>
          <p:cNvSpPr/>
          <p:nvPr/>
        </p:nvSpPr>
        <p:spPr>
          <a:xfrm>
            <a:off x="7772400" y="4325112"/>
            <a:ext cx="3916375" cy="2075688"/>
          </a:xfrm>
          <a:prstGeom prst="roundRect">
            <a:avLst>
              <a:gd name="adj" fmla="val 2203"/>
            </a:avLst>
          </a:prstGeom>
          <a:solidFill>
            <a:srgbClr val="C1560C"/>
          </a:solidFill>
          <a:ln/>
        </p:spPr>
      </p:sp>
      <p:sp>
        <p:nvSpPr>
          <p:cNvPr id="13" name="Text 10"/>
          <p:cNvSpPr/>
          <p:nvPr/>
        </p:nvSpPr>
        <p:spPr>
          <a:xfrm>
            <a:off x="7909560" y="4416552"/>
            <a:ext cx="3642055" cy="219456"/>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RECOMMENDATION</a:t>
            </a:r>
            <a:endParaRPr lang="en-US" sz="1050" dirty="0"/>
          </a:p>
        </p:txBody>
      </p:sp>
      <p:sp>
        <p:nvSpPr>
          <p:cNvPr id="14" name="Text 11"/>
          <p:cNvSpPr/>
          <p:nvPr/>
        </p:nvSpPr>
        <p:spPr>
          <a:xfrm>
            <a:off x="7909560" y="4636008"/>
            <a:ext cx="3642055" cy="1673352"/>
          </a:xfrm>
          <a:prstGeom prst="rect">
            <a:avLst/>
          </a:prstGeom>
          <a:noFill/>
          <a:ln/>
        </p:spPr>
        <p:txBody>
          <a:bodyPr wrap="square" rtlCol="0" anchor="t"/>
          <a:lstStyle/>
          <a:p>
            <a:pPr marL="0" indent="0">
              <a:lnSpc>
                <a:spcPct val="105000"/>
              </a:lnSpc>
              <a:buNone/>
            </a:pPr>
            <a:r>
              <a:rPr lang="en-US" sz="1050" dirty="0">
                <a:solidFill>
                  <a:srgbClr val="FFFFFF"/>
                </a:solidFill>
                <a:latin typeface="Calibri" pitchFamily="34" charset="0"/>
                <a:ea typeface="Calibri" pitchFamily="34" charset="-122"/>
                <a:cs typeface="Calibri" pitchFamily="34" charset="-120"/>
              </a:rPr>
              <a:t>Prioritize root-cause and self-service investment in System tickets first — at 40% of volume, even a modest reduction in recurrence has the largest fleet-wide impact.</a:t>
            </a:r>
            <a:endParaRPr lang="en-US" sz="1050" dirty="0"/>
          </a:p>
        </p:txBody>
      </p:sp>
      <p:graphicFrame>
        <p:nvGraphicFramePr>
          <p:cNvPr id="15" name="Chart 14">
            <a:extLst>
              <a:ext uri="{FF2B5EF4-FFF2-40B4-BE49-F238E27FC236}">
                <a16:creationId xmlns:a16="http://schemas.microsoft.com/office/drawing/2014/main" id="{1DE8DD8C-1981-4689-960D-60A8BCF4B111}"/>
              </a:ext>
            </a:extLst>
          </p:cNvPr>
          <p:cNvGraphicFramePr>
            <a:graphicFrameLocks/>
          </p:cNvGraphicFramePr>
          <p:nvPr>
            <p:extLst>
              <p:ext uri="{D42A27DB-BD31-4B8C-83A1-F6EECF244321}">
                <p14:modId xmlns:p14="http://schemas.microsoft.com/office/powerpoint/2010/main" val="469226793"/>
              </p:ext>
            </p:extLst>
          </p:nvPr>
        </p:nvGraphicFramePr>
        <p:xfrm>
          <a:off x="548640" y="1363526"/>
          <a:ext cx="6612062" cy="465328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DASHBOARD ANALYSIS  ·  3/9</a:t>
            </a:r>
            <a:endParaRPr lang="en-US" sz="1200" dirty="0"/>
          </a:p>
        </p:txBody>
      </p:sp>
      <p:sp>
        <p:nvSpPr>
          <p:cNvPr id="3" name="Text 1"/>
          <p:cNvSpPr/>
          <p:nvPr/>
        </p:nvSpPr>
        <p:spPr>
          <a:xfrm>
            <a:off x="548640" y="566928"/>
            <a:ext cx="7315200" cy="640080"/>
          </a:xfrm>
          <a:prstGeom prst="rect">
            <a:avLst/>
          </a:prstGeom>
          <a:noFill/>
          <a:ln/>
        </p:spPr>
        <p:txBody>
          <a:bodyPr wrap="square" rtlCol="0" anchor="ctr"/>
          <a:lstStyle/>
          <a:p>
            <a:pPr marL="0" indent="0">
              <a:buNone/>
            </a:pPr>
            <a:r>
              <a:rPr lang="en-US" sz="2500" b="1" dirty="0">
                <a:solidFill>
                  <a:srgbClr val="262626"/>
                </a:solidFill>
                <a:latin typeface="Cambria" pitchFamily="34" charset="0"/>
                <a:ea typeface="Cambria" pitchFamily="34" charset="-122"/>
                <a:cs typeface="Cambria" pitchFamily="34" charset="-120"/>
              </a:rPr>
              <a:t>Satisfaction Rate Trend + 2021–22 Projection</a:t>
            </a:r>
            <a:endParaRPr lang="en-US" sz="2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06</a:t>
            </a:r>
            <a:endParaRPr lang="en-US" sz="1000" dirty="0"/>
          </a:p>
        </p:txBody>
      </p:sp>
      <p:sp>
        <p:nvSpPr>
          <p:cNvPr id="7" name="Text 4"/>
          <p:cNvSpPr/>
          <p:nvPr/>
        </p:nvSpPr>
        <p:spPr>
          <a:xfrm>
            <a:off x="7772400" y="566928"/>
            <a:ext cx="3916375" cy="274320"/>
          </a:xfrm>
          <a:prstGeom prst="rect">
            <a:avLst/>
          </a:prstGeom>
          <a:noFill/>
          <a:ln/>
        </p:spPr>
        <p:txBody>
          <a:bodyPr wrap="square" rtlCol="0" anchor="ctr"/>
          <a:lstStyle/>
          <a:p>
            <a:pPr marL="0" indent="0">
              <a:buNone/>
            </a:pPr>
            <a:r>
              <a:rPr lang="en-US" sz="1250" b="1" kern="0" spc="100" dirty="0">
                <a:solidFill>
                  <a:srgbClr val="C1560C"/>
                </a:solidFill>
                <a:latin typeface="Calibri" pitchFamily="34" charset="0"/>
                <a:ea typeface="Calibri" pitchFamily="34" charset="-122"/>
                <a:cs typeface="Calibri" pitchFamily="34" charset="-120"/>
              </a:rPr>
              <a:t>KEY INSIGHTS</a:t>
            </a:r>
            <a:endParaRPr lang="en-US" sz="1250" dirty="0"/>
          </a:p>
        </p:txBody>
      </p:sp>
      <p:sp>
        <p:nvSpPr>
          <p:cNvPr id="8" name="Text 5"/>
          <p:cNvSpPr/>
          <p:nvPr/>
        </p:nvSpPr>
        <p:spPr>
          <a:xfrm>
            <a:off x="7772400" y="896112"/>
            <a:ext cx="3916375" cy="2148840"/>
          </a:xfrm>
          <a:prstGeom prst="rect">
            <a:avLst/>
          </a:prstGeom>
          <a:noFill/>
          <a:ln/>
        </p:spPr>
        <p:txBody>
          <a:bodyPr wrap="square" rtlCol="0" anchor="t"/>
          <a:lstStyle/>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Average satisfaction rose every single year from 2016 (3.98) to 2020 (4.16) — a sustained +4.5% improvement with no reversals.</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Projected values for 2021–22 (4.21, 4.25) simply extend the observed trend line, implying satisfaction gains are structural, not a one-year blip.</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A steady multi-year climb this consistent usually reflects compounding process or training improvements rather than a single change.</a:t>
            </a:r>
            <a:endParaRPr lang="en-US" sz="1150" dirty="0"/>
          </a:p>
        </p:txBody>
      </p:sp>
      <p:sp>
        <p:nvSpPr>
          <p:cNvPr id="9" name="Shape 6"/>
          <p:cNvSpPr/>
          <p:nvPr/>
        </p:nvSpPr>
        <p:spPr>
          <a:xfrm>
            <a:off x="7772400" y="3136392"/>
            <a:ext cx="3916375" cy="1051560"/>
          </a:xfrm>
          <a:prstGeom prst="roundRect">
            <a:avLst>
              <a:gd name="adj" fmla="val 4348"/>
            </a:avLst>
          </a:prstGeom>
          <a:solidFill>
            <a:srgbClr val="FBEEE1"/>
          </a:solidFill>
          <a:ln/>
        </p:spPr>
      </p:sp>
      <p:sp>
        <p:nvSpPr>
          <p:cNvPr id="10" name="Text 7"/>
          <p:cNvSpPr/>
          <p:nvPr/>
        </p:nvSpPr>
        <p:spPr>
          <a:xfrm>
            <a:off x="7909560" y="3227832"/>
            <a:ext cx="3642055" cy="219456"/>
          </a:xfrm>
          <a:prstGeom prst="rect">
            <a:avLst/>
          </a:prstGeom>
          <a:noFill/>
          <a:ln/>
        </p:spPr>
        <p:txBody>
          <a:bodyPr wrap="square" rtlCol="0" anchor="ctr"/>
          <a:lstStyle/>
          <a:p>
            <a:pPr marL="0" indent="0">
              <a:buNone/>
            </a:pPr>
            <a:r>
              <a:rPr lang="en-US" sz="1050" b="1" kern="0" spc="100" dirty="0">
                <a:solidFill>
                  <a:srgbClr val="7A3406"/>
                </a:solidFill>
                <a:latin typeface="Calibri" pitchFamily="34" charset="0"/>
                <a:ea typeface="Calibri" pitchFamily="34" charset="-122"/>
                <a:cs typeface="Calibri" pitchFamily="34" charset="-120"/>
              </a:rPr>
              <a:t>APPROACH</a:t>
            </a:r>
            <a:endParaRPr lang="en-US" sz="1050" dirty="0"/>
          </a:p>
        </p:txBody>
      </p:sp>
      <p:sp>
        <p:nvSpPr>
          <p:cNvPr id="11" name="Text 8"/>
          <p:cNvSpPr/>
          <p:nvPr/>
        </p:nvSpPr>
        <p:spPr>
          <a:xfrm>
            <a:off x="7909560" y="3447288"/>
            <a:ext cx="3642055" cy="685800"/>
          </a:xfrm>
          <a:prstGeom prst="rect">
            <a:avLst/>
          </a:prstGeom>
          <a:noFill/>
          <a:ln/>
        </p:spPr>
        <p:txBody>
          <a:bodyPr wrap="square" rtlCol="0" anchor="t"/>
          <a:lstStyle/>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Time-series trend analysis with linear forward projection for 2021–22.</a:t>
            </a:r>
            <a:endParaRPr lang="en-US" sz="1050" dirty="0"/>
          </a:p>
        </p:txBody>
      </p:sp>
      <p:sp>
        <p:nvSpPr>
          <p:cNvPr id="12" name="Shape 9"/>
          <p:cNvSpPr/>
          <p:nvPr/>
        </p:nvSpPr>
        <p:spPr>
          <a:xfrm>
            <a:off x="7772400" y="4325112"/>
            <a:ext cx="3916375" cy="2075688"/>
          </a:xfrm>
          <a:prstGeom prst="roundRect">
            <a:avLst>
              <a:gd name="adj" fmla="val 2203"/>
            </a:avLst>
          </a:prstGeom>
          <a:solidFill>
            <a:srgbClr val="C1560C"/>
          </a:solidFill>
          <a:ln/>
        </p:spPr>
      </p:sp>
      <p:sp>
        <p:nvSpPr>
          <p:cNvPr id="13" name="Text 10"/>
          <p:cNvSpPr/>
          <p:nvPr/>
        </p:nvSpPr>
        <p:spPr>
          <a:xfrm>
            <a:off x="7909560" y="4416552"/>
            <a:ext cx="3642055" cy="219456"/>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RECOMMENDATION</a:t>
            </a:r>
            <a:endParaRPr lang="en-US" sz="1050" dirty="0"/>
          </a:p>
        </p:txBody>
      </p:sp>
      <p:sp>
        <p:nvSpPr>
          <p:cNvPr id="14" name="Text 11"/>
          <p:cNvSpPr/>
          <p:nvPr/>
        </p:nvSpPr>
        <p:spPr>
          <a:xfrm>
            <a:off x="7909560" y="4636008"/>
            <a:ext cx="3642055" cy="1673352"/>
          </a:xfrm>
          <a:prstGeom prst="rect">
            <a:avLst/>
          </a:prstGeom>
          <a:noFill/>
          <a:ln/>
        </p:spPr>
        <p:txBody>
          <a:bodyPr wrap="square" rtlCol="0" anchor="t"/>
          <a:lstStyle/>
          <a:p>
            <a:pPr marL="0" indent="0">
              <a:lnSpc>
                <a:spcPct val="105000"/>
              </a:lnSpc>
              <a:buNone/>
            </a:pPr>
            <a:r>
              <a:rPr lang="en-US" sz="1050" dirty="0">
                <a:solidFill>
                  <a:srgbClr val="FFFFFF"/>
                </a:solidFill>
                <a:latin typeface="Calibri" pitchFamily="34" charset="0"/>
                <a:ea typeface="Calibri" pitchFamily="34" charset="-122"/>
                <a:cs typeface="Calibri" pitchFamily="34" charset="-120"/>
              </a:rPr>
              <a:t>Identify and formally document what changed operationally each year (2016–2020) to keep replicating it — losing track of the driver risks flattening the projected 2021–22 gains.</a:t>
            </a:r>
            <a:endParaRPr lang="en-US" sz="1050" dirty="0"/>
          </a:p>
        </p:txBody>
      </p:sp>
      <p:graphicFrame>
        <p:nvGraphicFramePr>
          <p:cNvPr id="15" name="Chart 14">
            <a:extLst>
              <a:ext uri="{FF2B5EF4-FFF2-40B4-BE49-F238E27FC236}">
                <a16:creationId xmlns:a16="http://schemas.microsoft.com/office/drawing/2014/main" id="{1062E3BF-8447-4433-B3F0-B09136DF4DDE}"/>
              </a:ext>
            </a:extLst>
          </p:cNvPr>
          <p:cNvGraphicFramePr>
            <a:graphicFrameLocks/>
          </p:cNvGraphicFramePr>
          <p:nvPr>
            <p:extLst>
              <p:ext uri="{D42A27DB-BD31-4B8C-83A1-F6EECF244321}">
                <p14:modId xmlns:p14="http://schemas.microsoft.com/office/powerpoint/2010/main" val="2809367046"/>
              </p:ext>
            </p:extLst>
          </p:nvPr>
        </p:nvGraphicFramePr>
        <p:xfrm>
          <a:off x="548640" y="1446061"/>
          <a:ext cx="6784489" cy="4461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DASHBOARD ANALYSIS  ·  4/9</a:t>
            </a:r>
            <a:endParaRPr lang="en-US" sz="1200" dirty="0"/>
          </a:p>
        </p:txBody>
      </p:sp>
      <p:sp>
        <p:nvSpPr>
          <p:cNvPr id="3" name="Text 1"/>
          <p:cNvSpPr/>
          <p:nvPr/>
        </p:nvSpPr>
        <p:spPr>
          <a:xfrm>
            <a:off x="548640" y="566928"/>
            <a:ext cx="7315200" cy="640080"/>
          </a:xfrm>
          <a:prstGeom prst="rect">
            <a:avLst/>
          </a:prstGeom>
          <a:noFill/>
          <a:ln/>
        </p:spPr>
        <p:txBody>
          <a:bodyPr wrap="square" rtlCol="0" anchor="ctr"/>
          <a:lstStyle/>
          <a:p>
            <a:pPr marL="0" indent="0">
              <a:buNone/>
            </a:pPr>
            <a:r>
              <a:rPr lang="en-US" sz="2500" b="1" dirty="0">
                <a:solidFill>
                  <a:srgbClr val="262626"/>
                </a:solidFill>
                <a:latin typeface="Cambria" pitchFamily="34" charset="0"/>
                <a:ea typeface="Cambria" pitchFamily="34" charset="-122"/>
                <a:cs typeface="Cambria" pitchFamily="34" charset="-120"/>
              </a:rPr>
              <a:t>Average Resolution Time by Category</a:t>
            </a:r>
            <a:endParaRPr lang="en-US" sz="2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07</a:t>
            </a:r>
            <a:endParaRPr lang="en-US" sz="1000" dirty="0"/>
          </a:p>
        </p:txBody>
      </p:sp>
      <p:sp>
        <p:nvSpPr>
          <p:cNvPr id="7" name="Text 4"/>
          <p:cNvSpPr/>
          <p:nvPr/>
        </p:nvSpPr>
        <p:spPr>
          <a:xfrm>
            <a:off x="7772400" y="566928"/>
            <a:ext cx="3916375" cy="274320"/>
          </a:xfrm>
          <a:prstGeom prst="rect">
            <a:avLst/>
          </a:prstGeom>
          <a:noFill/>
          <a:ln/>
        </p:spPr>
        <p:txBody>
          <a:bodyPr wrap="square" rtlCol="0" anchor="ctr"/>
          <a:lstStyle/>
          <a:p>
            <a:pPr marL="0" indent="0">
              <a:buNone/>
            </a:pPr>
            <a:r>
              <a:rPr lang="en-US" sz="1250" b="1" kern="0" spc="100" dirty="0">
                <a:solidFill>
                  <a:srgbClr val="C1560C"/>
                </a:solidFill>
                <a:latin typeface="Calibri" pitchFamily="34" charset="0"/>
                <a:ea typeface="Calibri" pitchFamily="34" charset="-122"/>
                <a:cs typeface="Calibri" pitchFamily="34" charset="-120"/>
              </a:rPr>
              <a:t>KEY INSIGHTS</a:t>
            </a:r>
            <a:endParaRPr lang="en-US" sz="1250" dirty="0"/>
          </a:p>
        </p:txBody>
      </p:sp>
      <p:sp>
        <p:nvSpPr>
          <p:cNvPr id="8" name="Text 5"/>
          <p:cNvSpPr/>
          <p:nvPr/>
        </p:nvSpPr>
        <p:spPr>
          <a:xfrm>
            <a:off x="7772400" y="896112"/>
            <a:ext cx="3916375" cy="2148840"/>
          </a:xfrm>
          <a:prstGeom prst="rect">
            <a:avLst/>
          </a:prstGeom>
          <a:noFill/>
          <a:ln/>
        </p:spPr>
        <p:txBody>
          <a:bodyPr wrap="square" rtlCol="0" anchor="t"/>
          <a:lstStyle/>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Hardware tickets take 7.63 days on average to resolve — nearly 25× longer than Login Access tickets (0.31 days), the widest gap on the dashboard.</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System, the highest-volume category (40% of all tickets), is also the second-slowest to resolve (6.62 days) — a combination that drives a disproportionate share of total resolution effort.</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Login Access resolves in under a day on average, confirming it behaves like a largely automatable, low-effort category (e.g. password/account resets).</a:t>
            </a:r>
            <a:endParaRPr lang="en-US" sz="1150" dirty="0"/>
          </a:p>
        </p:txBody>
      </p:sp>
      <p:sp>
        <p:nvSpPr>
          <p:cNvPr id="9" name="Shape 6"/>
          <p:cNvSpPr/>
          <p:nvPr/>
        </p:nvSpPr>
        <p:spPr>
          <a:xfrm>
            <a:off x="7772400" y="3136392"/>
            <a:ext cx="3916375" cy="1051560"/>
          </a:xfrm>
          <a:prstGeom prst="roundRect">
            <a:avLst>
              <a:gd name="adj" fmla="val 4348"/>
            </a:avLst>
          </a:prstGeom>
          <a:solidFill>
            <a:srgbClr val="FBEEE1"/>
          </a:solidFill>
          <a:ln/>
        </p:spPr>
      </p:sp>
      <p:sp>
        <p:nvSpPr>
          <p:cNvPr id="10" name="Text 7"/>
          <p:cNvSpPr/>
          <p:nvPr/>
        </p:nvSpPr>
        <p:spPr>
          <a:xfrm>
            <a:off x="7909560" y="3227832"/>
            <a:ext cx="3642055" cy="219456"/>
          </a:xfrm>
          <a:prstGeom prst="rect">
            <a:avLst/>
          </a:prstGeom>
          <a:noFill/>
          <a:ln/>
        </p:spPr>
        <p:txBody>
          <a:bodyPr wrap="square" rtlCol="0" anchor="ctr"/>
          <a:lstStyle/>
          <a:p>
            <a:pPr marL="0" indent="0">
              <a:buNone/>
            </a:pPr>
            <a:r>
              <a:rPr lang="en-US" sz="1050" b="1" kern="0" spc="100" dirty="0">
                <a:solidFill>
                  <a:srgbClr val="7A3406"/>
                </a:solidFill>
                <a:latin typeface="Calibri" pitchFamily="34" charset="0"/>
                <a:ea typeface="Calibri" pitchFamily="34" charset="-122"/>
                <a:cs typeface="Calibri" pitchFamily="34" charset="-120"/>
              </a:rPr>
              <a:t>APPROACH</a:t>
            </a:r>
            <a:endParaRPr lang="en-US" sz="1050" dirty="0"/>
          </a:p>
        </p:txBody>
      </p:sp>
      <p:sp>
        <p:nvSpPr>
          <p:cNvPr id="11" name="Text 8"/>
          <p:cNvSpPr/>
          <p:nvPr/>
        </p:nvSpPr>
        <p:spPr>
          <a:xfrm>
            <a:off x="7909560" y="3447288"/>
            <a:ext cx="3642055" cy="685800"/>
          </a:xfrm>
          <a:prstGeom prst="rect">
            <a:avLst/>
          </a:prstGeom>
          <a:noFill/>
          <a:ln/>
        </p:spPr>
        <p:txBody>
          <a:bodyPr wrap="square" rtlCol="0" anchor="t"/>
          <a:lstStyle/>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Comparative benchmarking of average resolution time across request categories.</a:t>
            </a:r>
            <a:endParaRPr lang="en-US" sz="1050" dirty="0"/>
          </a:p>
        </p:txBody>
      </p:sp>
      <p:sp>
        <p:nvSpPr>
          <p:cNvPr id="12" name="Shape 9"/>
          <p:cNvSpPr/>
          <p:nvPr/>
        </p:nvSpPr>
        <p:spPr>
          <a:xfrm>
            <a:off x="7772400" y="4325112"/>
            <a:ext cx="3916375" cy="2075688"/>
          </a:xfrm>
          <a:prstGeom prst="roundRect">
            <a:avLst>
              <a:gd name="adj" fmla="val 2203"/>
            </a:avLst>
          </a:prstGeom>
          <a:solidFill>
            <a:srgbClr val="C1560C"/>
          </a:solidFill>
          <a:ln/>
        </p:spPr>
      </p:sp>
      <p:sp>
        <p:nvSpPr>
          <p:cNvPr id="13" name="Text 10"/>
          <p:cNvSpPr/>
          <p:nvPr/>
        </p:nvSpPr>
        <p:spPr>
          <a:xfrm>
            <a:off x="7909560" y="4416552"/>
            <a:ext cx="3642055" cy="219456"/>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RECOMMENDATION</a:t>
            </a:r>
            <a:endParaRPr lang="en-US" sz="1050" dirty="0"/>
          </a:p>
        </p:txBody>
      </p:sp>
      <p:sp>
        <p:nvSpPr>
          <p:cNvPr id="14" name="Text 11"/>
          <p:cNvSpPr/>
          <p:nvPr/>
        </p:nvSpPr>
        <p:spPr>
          <a:xfrm>
            <a:off x="7909560" y="4636008"/>
            <a:ext cx="3642055" cy="1673352"/>
          </a:xfrm>
          <a:prstGeom prst="rect">
            <a:avLst/>
          </a:prstGeom>
          <a:noFill/>
          <a:ln/>
        </p:spPr>
        <p:txBody>
          <a:bodyPr wrap="square" rtlCol="0" anchor="t"/>
          <a:lstStyle/>
          <a:p>
            <a:pPr marL="0" indent="0">
              <a:lnSpc>
                <a:spcPct val="105000"/>
              </a:lnSpc>
              <a:buNone/>
            </a:pPr>
            <a:r>
              <a:rPr lang="en-US" sz="1050" dirty="0">
                <a:solidFill>
                  <a:srgbClr val="FFFFFF"/>
                </a:solidFill>
                <a:latin typeface="Calibri" pitchFamily="34" charset="0"/>
                <a:ea typeface="Calibri" pitchFamily="34" charset="-122"/>
                <a:cs typeface="Calibri" pitchFamily="34" charset="-120"/>
              </a:rPr>
              <a:t>Target Hardware and System jointly: pre-stock common spare parts and build standardized System troubleshooting runbooks — these two categories offer the largest realistic cut to overall average resolution time.</a:t>
            </a:r>
            <a:endParaRPr lang="en-US" sz="1050" dirty="0"/>
          </a:p>
        </p:txBody>
      </p:sp>
      <p:graphicFrame>
        <p:nvGraphicFramePr>
          <p:cNvPr id="15" name="Chart 14">
            <a:extLst>
              <a:ext uri="{FF2B5EF4-FFF2-40B4-BE49-F238E27FC236}">
                <a16:creationId xmlns:a16="http://schemas.microsoft.com/office/drawing/2014/main" id="{AD80E92C-89EB-430D-AF1E-30B7630C584F}"/>
              </a:ext>
            </a:extLst>
          </p:cNvPr>
          <p:cNvGraphicFramePr>
            <a:graphicFrameLocks/>
          </p:cNvGraphicFramePr>
          <p:nvPr>
            <p:extLst>
              <p:ext uri="{D42A27DB-BD31-4B8C-83A1-F6EECF244321}">
                <p14:modId xmlns:p14="http://schemas.microsoft.com/office/powerpoint/2010/main" val="545731185"/>
              </p:ext>
            </p:extLst>
          </p:nvPr>
        </p:nvGraphicFramePr>
        <p:xfrm>
          <a:off x="548639" y="1408176"/>
          <a:ext cx="6605195" cy="456231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DASHBOARD ANALYSIS  ·  5/9</a:t>
            </a:r>
            <a:endParaRPr lang="en-US" sz="1200" dirty="0"/>
          </a:p>
        </p:txBody>
      </p:sp>
      <p:sp>
        <p:nvSpPr>
          <p:cNvPr id="3" name="Text 1"/>
          <p:cNvSpPr/>
          <p:nvPr/>
        </p:nvSpPr>
        <p:spPr>
          <a:xfrm>
            <a:off x="548640" y="566928"/>
            <a:ext cx="7315200" cy="640080"/>
          </a:xfrm>
          <a:prstGeom prst="rect">
            <a:avLst/>
          </a:prstGeom>
          <a:noFill/>
          <a:ln/>
        </p:spPr>
        <p:txBody>
          <a:bodyPr wrap="square" rtlCol="0" anchor="ctr"/>
          <a:lstStyle/>
          <a:p>
            <a:pPr marL="0" indent="0">
              <a:buNone/>
            </a:pPr>
            <a:r>
              <a:rPr lang="en-US" sz="2500" b="1" dirty="0">
                <a:solidFill>
                  <a:srgbClr val="262626"/>
                </a:solidFill>
                <a:latin typeface="Cambria" pitchFamily="34" charset="0"/>
                <a:ea typeface="Cambria" pitchFamily="34" charset="-122"/>
                <a:cs typeface="Cambria" pitchFamily="34" charset="-120"/>
              </a:rPr>
              <a:t>Total Tickets by Severity Type</a:t>
            </a:r>
            <a:endParaRPr lang="en-US" sz="2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08</a:t>
            </a:r>
            <a:endParaRPr lang="en-US" sz="1000" dirty="0"/>
          </a:p>
        </p:txBody>
      </p:sp>
      <p:sp>
        <p:nvSpPr>
          <p:cNvPr id="7" name="Text 4"/>
          <p:cNvSpPr/>
          <p:nvPr/>
        </p:nvSpPr>
        <p:spPr>
          <a:xfrm>
            <a:off x="7772400" y="566928"/>
            <a:ext cx="3916375" cy="274320"/>
          </a:xfrm>
          <a:prstGeom prst="rect">
            <a:avLst/>
          </a:prstGeom>
          <a:noFill/>
          <a:ln/>
        </p:spPr>
        <p:txBody>
          <a:bodyPr wrap="square" rtlCol="0" anchor="ctr"/>
          <a:lstStyle/>
          <a:p>
            <a:pPr marL="0" indent="0">
              <a:buNone/>
            </a:pPr>
            <a:r>
              <a:rPr lang="en-US" sz="1250" b="1" kern="0" spc="100" dirty="0">
                <a:solidFill>
                  <a:srgbClr val="C1560C"/>
                </a:solidFill>
                <a:latin typeface="Calibri" pitchFamily="34" charset="0"/>
                <a:ea typeface="Calibri" pitchFamily="34" charset="-122"/>
                <a:cs typeface="Calibri" pitchFamily="34" charset="-120"/>
              </a:rPr>
              <a:t>KEY INSIGHTS</a:t>
            </a:r>
            <a:endParaRPr lang="en-US" sz="1250" dirty="0"/>
          </a:p>
        </p:txBody>
      </p:sp>
      <p:sp>
        <p:nvSpPr>
          <p:cNvPr id="8" name="Text 5"/>
          <p:cNvSpPr/>
          <p:nvPr/>
        </p:nvSpPr>
        <p:spPr>
          <a:xfrm>
            <a:off x="7772400" y="896112"/>
            <a:ext cx="3916375" cy="2148840"/>
          </a:xfrm>
          <a:prstGeom prst="rect">
            <a:avLst/>
          </a:prstGeom>
          <a:noFill/>
          <a:ln/>
        </p:spPr>
        <p:txBody>
          <a:bodyPr wrap="square" rtlCol="0" anchor="t"/>
          <a:lstStyle/>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90.9% of all tickets (88,656) are labeled “Normal” severity — Major and Urgent combined make up just 6.4%, meaning severity tagging currently offers little ability to differentiate urgency.</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356 tickets (0.4%) are left “Unclassified,” a small but avoidable data-quality gap since severity should be assigned at intake.</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With such heavy concentration in one bucket, genuinely urgent issues may not be visibly distinguished from routine ones in queue management.</a:t>
            </a:r>
            <a:endParaRPr lang="en-US" sz="1150" dirty="0"/>
          </a:p>
        </p:txBody>
      </p:sp>
      <p:sp>
        <p:nvSpPr>
          <p:cNvPr id="9" name="Shape 6"/>
          <p:cNvSpPr/>
          <p:nvPr/>
        </p:nvSpPr>
        <p:spPr>
          <a:xfrm>
            <a:off x="7772400" y="3136392"/>
            <a:ext cx="3916375" cy="1051560"/>
          </a:xfrm>
          <a:prstGeom prst="roundRect">
            <a:avLst>
              <a:gd name="adj" fmla="val 4348"/>
            </a:avLst>
          </a:prstGeom>
          <a:solidFill>
            <a:srgbClr val="FBEEE1"/>
          </a:solidFill>
          <a:ln/>
        </p:spPr>
      </p:sp>
      <p:sp>
        <p:nvSpPr>
          <p:cNvPr id="10" name="Text 7"/>
          <p:cNvSpPr/>
          <p:nvPr/>
        </p:nvSpPr>
        <p:spPr>
          <a:xfrm>
            <a:off x="7909560" y="3227832"/>
            <a:ext cx="3642055" cy="219456"/>
          </a:xfrm>
          <a:prstGeom prst="rect">
            <a:avLst/>
          </a:prstGeom>
          <a:noFill/>
          <a:ln/>
        </p:spPr>
        <p:txBody>
          <a:bodyPr wrap="square" rtlCol="0" anchor="ctr"/>
          <a:lstStyle/>
          <a:p>
            <a:pPr marL="0" indent="0">
              <a:buNone/>
            </a:pPr>
            <a:r>
              <a:rPr lang="en-US" sz="1050" b="1" kern="0" spc="100" dirty="0">
                <a:solidFill>
                  <a:srgbClr val="7A3406"/>
                </a:solidFill>
                <a:latin typeface="Calibri" pitchFamily="34" charset="0"/>
                <a:ea typeface="Calibri" pitchFamily="34" charset="-122"/>
                <a:cs typeface="Calibri" pitchFamily="34" charset="-120"/>
              </a:rPr>
              <a:t>APPROACH</a:t>
            </a:r>
            <a:endParaRPr lang="en-US" sz="1050" dirty="0"/>
          </a:p>
        </p:txBody>
      </p:sp>
      <p:sp>
        <p:nvSpPr>
          <p:cNvPr id="11" name="Text 8"/>
          <p:cNvSpPr/>
          <p:nvPr/>
        </p:nvSpPr>
        <p:spPr>
          <a:xfrm>
            <a:off x="7909560" y="3447288"/>
            <a:ext cx="3642055" cy="685800"/>
          </a:xfrm>
          <a:prstGeom prst="rect">
            <a:avLst/>
          </a:prstGeom>
          <a:noFill/>
          <a:ln/>
        </p:spPr>
        <p:txBody>
          <a:bodyPr wrap="square" rtlCol="0" anchor="t"/>
          <a:lstStyle/>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Distribution analysis of ticket counts across severity classifications.</a:t>
            </a:r>
            <a:endParaRPr lang="en-US" sz="1050" dirty="0"/>
          </a:p>
        </p:txBody>
      </p:sp>
      <p:sp>
        <p:nvSpPr>
          <p:cNvPr id="12" name="Shape 9"/>
          <p:cNvSpPr/>
          <p:nvPr/>
        </p:nvSpPr>
        <p:spPr>
          <a:xfrm>
            <a:off x="7772400" y="4325112"/>
            <a:ext cx="3916375" cy="2075688"/>
          </a:xfrm>
          <a:prstGeom prst="roundRect">
            <a:avLst>
              <a:gd name="adj" fmla="val 2203"/>
            </a:avLst>
          </a:prstGeom>
          <a:solidFill>
            <a:srgbClr val="C1560C"/>
          </a:solidFill>
          <a:ln/>
        </p:spPr>
      </p:sp>
      <p:sp>
        <p:nvSpPr>
          <p:cNvPr id="13" name="Text 10"/>
          <p:cNvSpPr/>
          <p:nvPr/>
        </p:nvSpPr>
        <p:spPr>
          <a:xfrm>
            <a:off x="7909560" y="4416552"/>
            <a:ext cx="3642055" cy="219456"/>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RECOMMENDATION</a:t>
            </a:r>
            <a:endParaRPr lang="en-US" sz="1050" dirty="0"/>
          </a:p>
        </p:txBody>
      </p:sp>
      <p:sp>
        <p:nvSpPr>
          <p:cNvPr id="14" name="Text 11"/>
          <p:cNvSpPr/>
          <p:nvPr/>
        </p:nvSpPr>
        <p:spPr>
          <a:xfrm>
            <a:off x="7909560" y="4636008"/>
            <a:ext cx="3642055" cy="1673352"/>
          </a:xfrm>
          <a:prstGeom prst="rect">
            <a:avLst/>
          </a:prstGeom>
          <a:noFill/>
          <a:ln/>
        </p:spPr>
        <p:txBody>
          <a:bodyPr wrap="square" rtlCol="0" anchor="t"/>
          <a:lstStyle/>
          <a:p>
            <a:pPr marL="0" indent="0">
              <a:lnSpc>
                <a:spcPct val="105000"/>
              </a:lnSpc>
              <a:buNone/>
            </a:pPr>
            <a:r>
              <a:rPr lang="en-US" sz="1050" dirty="0">
                <a:solidFill>
                  <a:srgbClr val="FFFFFF"/>
                </a:solidFill>
                <a:latin typeface="Calibri" pitchFamily="34" charset="0"/>
                <a:ea typeface="Calibri" pitchFamily="34" charset="-122"/>
                <a:cs typeface="Calibri" pitchFamily="34" charset="-120"/>
              </a:rPr>
              <a:t>Review and tighten the severity-assignment criteria so “Normal” isn’t a default catch-all, and enforce a mandatory severity field at ticket creation to eliminate the Unclassified bucket entirely.</a:t>
            </a:r>
            <a:endParaRPr lang="en-US" sz="1050" dirty="0"/>
          </a:p>
        </p:txBody>
      </p:sp>
      <p:graphicFrame>
        <p:nvGraphicFramePr>
          <p:cNvPr id="15" name="Chart 14">
            <a:extLst>
              <a:ext uri="{FF2B5EF4-FFF2-40B4-BE49-F238E27FC236}">
                <a16:creationId xmlns:a16="http://schemas.microsoft.com/office/drawing/2014/main" id="{9F49C7DF-95DD-4E8E-B2B1-4F1189CBA521}"/>
              </a:ext>
            </a:extLst>
          </p:cNvPr>
          <p:cNvGraphicFramePr>
            <a:graphicFrameLocks/>
          </p:cNvGraphicFramePr>
          <p:nvPr>
            <p:extLst>
              <p:ext uri="{D42A27DB-BD31-4B8C-83A1-F6EECF244321}">
                <p14:modId xmlns:p14="http://schemas.microsoft.com/office/powerpoint/2010/main" val="1398058576"/>
              </p:ext>
            </p:extLst>
          </p:nvPr>
        </p:nvGraphicFramePr>
        <p:xfrm>
          <a:off x="548640" y="1408176"/>
          <a:ext cx="6578301" cy="454438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DASHBOARD ANALYSIS  ·  6/9</a:t>
            </a:r>
            <a:endParaRPr lang="en-US" sz="1200" dirty="0"/>
          </a:p>
        </p:txBody>
      </p:sp>
      <p:sp>
        <p:nvSpPr>
          <p:cNvPr id="3" name="Text 1"/>
          <p:cNvSpPr/>
          <p:nvPr/>
        </p:nvSpPr>
        <p:spPr>
          <a:xfrm>
            <a:off x="548640" y="566928"/>
            <a:ext cx="7315200" cy="640080"/>
          </a:xfrm>
          <a:prstGeom prst="rect">
            <a:avLst/>
          </a:prstGeom>
          <a:noFill/>
          <a:ln/>
        </p:spPr>
        <p:txBody>
          <a:bodyPr wrap="square" rtlCol="0" anchor="ctr"/>
          <a:lstStyle/>
          <a:p>
            <a:pPr marL="0" indent="0">
              <a:buNone/>
            </a:pPr>
            <a:r>
              <a:rPr lang="en-US" sz="2500" b="1" dirty="0">
                <a:solidFill>
                  <a:srgbClr val="262626"/>
                </a:solidFill>
                <a:latin typeface="Cambria" pitchFamily="34" charset="0"/>
                <a:ea typeface="Cambria" pitchFamily="34" charset="-122"/>
                <a:cs typeface="Cambria" pitchFamily="34" charset="-120"/>
              </a:rPr>
              <a:t>Total Ticket Volume by Priority</a:t>
            </a:r>
            <a:endParaRPr lang="en-US" sz="2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09</a:t>
            </a:r>
            <a:endParaRPr lang="en-US" sz="1000" dirty="0"/>
          </a:p>
        </p:txBody>
      </p:sp>
      <p:sp>
        <p:nvSpPr>
          <p:cNvPr id="7" name="Text 4"/>
          <p:cNvSpPr/>
          <p:nvPr/>
        </p:nvSpPr>
        <p:spPr>
          <a:xfrm>
            <a:off x="7772400" y="566928"/>
            <a:ext cx="3916375" cy="274320"/>
          </a:xfrm>
          <a:prstGeom prst="rect">
            <a:avLst/>
          </a:prstGeom>
          <a:noFill/>
          <a:ln/>
        </p:spPr>
        <p:txBody>
          <a:bodyPr wrap="square" rtlCol="0" anchor="ctr"/>
          <a:lstStyle/>
          <a:p>
            <a:pPr marL="0" indent="0">
              <a:buNone/>
            </a:pPr>
            <a:r>
              <a:rPr lang="en-US" sz="1250" b="1" kern="0" spc="100" dirty="0">
                <a:solidFill>
                  <a:srgbClr val="C1560C"/>
                </a:solidFill>
                <a:latin typeface="Calibri" pitchFamily="34" charset="0"/>
                <a:ea typeface="Calibri" pitchFamily="34" charset="-122"/>
                <a:cs typeface="Calibri" pitchFamily="34" charset="-120"/>
              </a:rPr>
              <a:t>KEY INSIGHTS</a:t>
            </a:r>
            <a:endParaRPr lang="en-US" sz="1250" dirty="0"/>
          </a:p>
        </p:txBody>
      </p:sp>
      <p:sp>
        <p:nvSpPr>
          <p:cNvPr id="8" name="Text 5"/>
          <p:cNvSpPr/>
          <p:nvPr/>
        </p:nvSpPr>
        <p:spPr>
          <a:xfrm>
            <a:off x="7772400" y="896112"/>
            <a:ext cx="3916375" cy="2148840"/>
          </a:xfrm>
          <a:prstGeom prst="rect">
            <a:avLst/>
          </a:prstGeom>
          <a:noFill/>
          <a:ln/>
        </p:spPr>
        <p:txBody>
          <a:bodyPr wrap="square" rtlCol="0" anchor="t"/>
          <a:lstStyle/>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36.5% of tickets (35,549) are High priority — the single largest priority bucket, meaning over a third of all volume is business-critical by the desk’s own tagging.</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30.2% of tickets (29,410) sit in “Unassigned” priority — nearly one in three tickets bypasses prioritized routing altogether.</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The remaining Low and Mid tiers are comparatively balanced (17% and 16%), so the real gap is the large Unassigned slice, not an imbalance among the assigned tiers.</a:t>
            </a:r>
            <a:endParaRPr lang="en-US" sz="1150" dirty="0"/>
          </a:p>
        </p:txBody>
      </p:sp>
      <p:sp>
        <p:nvSpPr>
          <p:cNvPr id="9" name="Shape 6"/>
          <p:cNvSpPr/>
          <p:nvPr/>
        </p:nvSpPr>
        <p:spPr>
          <a:xfrm>
            <a:off x="7772400" y="3136392"/>
            <a:ext cx="3916375" cy="1051560"/>
          </a:xfrm>
          <a:prstGeom prst="roundRect">
            <a:avLst>
              <a:gd name="adj" fmla="val 4348"/>
            </a:avLst>
          </a:prstGeom>
          <a:solidFill>
            <a:srgbClr val="FBEEE1"/>
          </a:solidFill>
          <a:ln/>
        </p:spPr>
      </p:sp>
      <p:sp>
        <p:nvSpPr>
          <p:cNvPr id="10" name="Text 7"/>
          <p:cNvSpPr/>
          <p:nvPr/>
        </p:nvSpPr>
        <p:spPr>
          <a:xfrm>
            <a:off x="7909560" y="3227832"/>
            <a:ext cx="3642055" cy="219456"/>
          </a:xfrm>
          <a:prstGeom prst="rect">
            <a:avLst/>
          </a:prstGeom>
          <a:noFill/>
          <a:ln/>
        </p:spPr>
        <p:txBody>
          <a:bodyPr wrap="square" rtlCol="0" anchor="ctr"/>
          <a:lstStyle/>
          <a:p>
            <a:pPr marL="0" indent="0">
              <a:buNone/>
            </a:pPr>
            <a:r>
              <a:rPr lang="en-US" sz="1050" b="1" kern="0" spc="100" dirty="0">
                <a:solidFill>
                  <a:srgbClr val="7A3406"/>
                </a:solidFill>
                <a:latin typeface="Calibri" pitchFamily="34" charset="0"/>
                <a:ea typeface="Calibri" pitchFamily="34" charset="-122"/>
                <a:cs typeface="Calibri" pitchFamily="34" charset="-120"/>
              </a:rPr>
              <a:t>APPROACH</a:t>
            </a:r>
            <a:endParaRPr lang="en-US" sz="1050" dirty="0"/>
          </a:p>
        </p:txBody>
      </p:sp>
      <p:sp>
        <p:nvSpPr>
          <p:cNvPr id="11" name="Text 8"/>
          <p:cNvSpPr/>
          <p:nvPr/>
        </p:nvSpPr>
        <p:spPr>
          <a:xfrm>
            <a:off x="7909560" y="3447288"/>
            <a:ext cx="3642055" cy="685800"/>
          </a:xfrm>
          <a:prstGeom prst="rect">
            <a:avLst/>
          </a:prstGeom>
          <a:noFill/>
          <a:ln/>
        </p:spPr>
        <p:txBody>
          <a:bodyPr wrap="square" rtlCol="0" anchor="t"/>
          <a:lstStyle/>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Distribution of ticket volume by priority tier.</a:t>
            </a:r>
            <a:endParaRPr lang="en-US" sz="1050" dirty="0"/>
          </a:p>
        </p:txBody>
      </p:sp>
      <p:sp>
        <p:nvSpPr>
          <p:cNvPr id="12" name="Shape 9"/>
          <p:cNvSpPr/>
          <p:nvPr/>
        </p:nvSpPr>
        <p:spPr>
          <a:xfrm>
            <a:off x="7772400" y="4325112"/>
            <a:ext cx="3916375" cy="2075688"/>
          </a:xfrm>
          <a:prstGeom prst="roundRect">
            <a:avLst>
              <a:gd name="adj" fmla="val 2203"/>
            </a:avLst>
          </a:prstGeom>
          <a:solidFill>
            <a:srgbClr val="C1560C"/>
          </a:solidFill>
          <a:ln/>
        </p:spPr>
      </p:sp>
      <p:sp>
        <p:nvSpPr>
          <p:cNvPr id="13" name="Text 10"/>
          <p:cNvSpPr/>
          <p:nvPr/>
        </p:nvSpPr>
        <p:spPr>
          <a:xfrm>
            <a:off x="7909560" y="4416552"/>
            <a:ext cx="3642055" cy="219456"/>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RECOMMENDATION</a:t>
            </a:r>
            <a:endParaRPr lang="en-US" sz="1050" dirty="0"/>
          </a:p>
        </p:txBody>
      </p:sp>
      <p:sp>
        <p:nvSpPr>
          <p:cNvPr id="14" name="Text 11"/>
          <p:cNvSpPr/>
          <p:nvPr/>
        </p:nvSpPr>
        <p:spPr>
          <a:xfrm>
            <a:off x="7909560" y="4636008"/>
            <a:ext cx="3642055" cy="1673352"/>
          </a:xfrm>
          <a:prstGeom prst="rect">
            <a:avLst/>
          </a:prstGeom>
          <a:noFill/>
          <a:ln/>
        </p:spPr>
        <p:txBody>
          <a:bodyPr wrap="square" rtlCol="0" anchor="t"/>
          <a:lstStyle/>
          <a:p>
            <a:pPr marL="0" indent="0">
              <a:lnSpc>
                <a:spcPct val="105000"/>
              </a:lnSpc>
              <a:buNone/>
            </a:pPr>
            <a:r>
              <a:rPr lang="en-US" sz="1050" dirty="0">
                <a:solidFill>
                  <a:srgbClr val="FFFFFF"/>
                </a:solidFill>
                <a:latin typeface="Calibri" pitchFamily="34" charset="0"/>
                <a:ea typeface="Calibri" pitchFamily="34" charset="-122"/>
                <a:cs typeface="Calibri" pitchFamily="34" charset="-120"/>
              </a:rPr>
              <a:t>Make priority a mandatory field enforced at ticket intake (system rule or SLA policy) — closing the 30% Unassigned gap is the single fastest way to make routing and SLA reporting trustworthy.</a:t>
            </a:r>
            <a:endParaRPr lang="en-US" sz="1050" dirty="0"/>
          </a:p>
        </p:txBody>
      </p:sp>
      <p:graphicFrame>
        <p:nvGraphicFramePr>
          <p:cNvPr id="15" name="Chart 14">
            <a:extLst>
              <a:ext uri="{FF2B5EF4-FFF2-40B4-BE49-F238E27FC236}">
                <a16:creationId xmlns:a16="http://schemas.microsoft.com/office/drawing/2014/main" id="{2F53AF13-3411-4993-90D2-44EC96E621BB}"/>
              </a:ext>
            </a:extLst>
          </p:cNvPr>
          <p:cNvGraphicFramePr>
            <a:graphicFrameLocks/>
          </p:cNvGraphicFramePr>
          <p:nvPr>
            <p:extLst>
              <p:ext uri="{D42A27DB-BD31-4B8C-83A1-F6EECF244321}">
                <p14:modId xmlns:p14="http://schemas.microsoft.com/office/powerpoint/2010/main" val="2145590664"/>
              </p:ext>
            </p:extLst>
          </p:nvPr>
        </p:nvGraphicFramePr>
        <p:xfrm>
          <a:off x="548639" y="1408176"/>
          <a:ext cx="6757595" cy="470575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DASHBOARD ANALYSIS  ·  7/9</a:t>
            </a:r>
            <a:endParaRPr lang="en-US" sz="1200" dirty="0"/>
          </a:p>
        </p:txBody>
      </p:sp>
      <p:sp>
        <p:nvSpPr>
          <p:cNvPr id="3" name="Text 1"/>
          <p:cNvSpPr/>
          <p:nvPr/>
        </p:nvSpPr>
        <p:spPr>
          <a:xfrm>
            <a:off x="548640" y="566928"/>
            <a:ext cx="7315200" cy="640080"/>
          </a:xfrm>
          <a:prstGeom prst="rect">
            <a:avLst/>
          </a:prstGeom>
          <a:noFill/>
          <a:ln/>
        </p:spPr>
        <p:txBody>
          <a:bodyPr wrap="square" rtlCol="0" anchor="ctr"/>
          <a:lstStyle/>
          <a:p>
            <a:pPr marL="0" indent="0">
              <a:buNone/>
            </a:pPr>
            <a:r>
              <a:rPr lang="en-US" sz="2500" b="1" dirty="0">
                <a:solidFill>
                  <a:srgbClr val="262626"/>
                </a:solidFill>
                <a:latin typeface="Cambria" pitchFamily="34" charset="0"/>
                <a:ea typeface="Cambria" pitchFamily="34" charset="-122"/>
                <a:cs typeface="Cambria" pitchFamily="34" charset="-120"/>
              </a:rPr>
              <a:t>Ticket Volume Trend by Year</a:t>
            </a:r>
            <a:endParaRPr lang="en-US" sz="2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sp>
        <p:nvSpPr>
          <p:cNvPr id="7" name="Text 4"/>
          <p:cNvSpPr/>
          <p:nvPr/>
        </p:nvSpPr>
        <p:spPr>
          <a:xfrm>
            <a:off x="7772400" y="566928"/>
            <a:ext cx="3916375" cy="274320"/>
          </a:xfrm>
          <a:prstGeom prst="rect">
            <a:avLst/>
          </a:prstGeom>
          <a:noFill/>
          <a:ln/>
        </p:spPr>
        <p:txBody>
          <a:bodyPr wrap="square" rtlCol="0" anchor="ctr"/>
          <a:lstStyle/>
          <a:p>
            <a:pPr marL="0" indent="0">
              <a:buNone/>
            </a:pPr>
            <a:r>
              <a:rPr lang="en-US" sz="1250" b="1" kern="0" spc="100" dirty="0">
                <a:solidFill>
                  <a:srgbClr val="C1560C"/>
                </a:solidFill>
                <a:latin typeface="Calibri" pitchFamily="34" charset="0"/>
                <a:ea typeface="Calibri" pitchFamily="34" charset="-122"/>
                <a:cs typeface="Calibri" pitchFamily="34" charset="-120"/>
              </a:rPr>
              <a:t>KEY INSIGHTS</a:t>
            </a:r>
            <a:endParaRPr lang="en-US" sz="1250" dirty="0"/>
          </a:p>
        </p:txBody>
      </p:sp>
      <p:sp>
        <p:nvSpPr>
          <p:cNvPr id="8" name="Text 5"/>
          <p:cNvSpPr/>
          <p:nvPr/>
        </p:nvSpPr>
        <p:spPr>
          <a:xfrm>
            <a:off x="7772400" y="896112"/>
            <a:ext cx="3916375" cy="2148840"/>
          </a:xfrm>
          <a:prstGeom prst="rect">
            <a:avLst/>
          </a:prstGeom>
          <a:noFill/>
          <a:ln/>
        </p:spPr>
        <p:txBody>
          <a:bodyPr wrap="square" rtlCol="0" anchor="t"/>
          <a:lstStyle/>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Ticket volume grew 123% over five years — from 13,051 in 2016 to 29,088 in 2020 — with no year-over-year decline.</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Growth is accelerating, not leveling off: year-over-year increases were +14%, +27%, +13%, then +35% in the final year (2019 - 2020), the largest single jump in the series.</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At the current trajectory, ticket demand is on track to keep outpacing prior-year levels, putting sustained pressure on a fixed 50-agent team.</a:t>
            </a:r>
            <a:endParaRPr lang="en-US" sz="1150" dirty="0"/>
          </a:p>
        </p:txBody>
      </p:sp>
      <p:sp>
        <p:nvSpPr>
          <p:cNvPr id="9" name="Shape 6"/>
          <p:cNvSpPr/>
          <p:nvPr/>
        </p:nvSpPr>
        <p:spPr>
          <a:xfrm>
            <a:off x="7772400" y="3136392"/>
            <a:ext cx="3916375" cy="1051560"/>
          </a:xfrm>
          <a:prstGeom prst="roundRect">
            <a:avLst>
              <a:gd name="adj" fmla="val 4348"/>
            </a:avLst>
          </a:prstGeom>
          <a:solidFill>
            <a:srgbClr val="FBEEE1"/>
          </a:solidFill>
          <a:ln/>
        </p:spPr>
      </p:sp>
      <p:sp>
        <p:nvSpPr>
          <p:cNvPr id="10" name="Text 7"/>
          <p:cNvSpPr/>
          <p:nvPr/>
        </p:nvSpPr>
        <p:spPr>
          <a:xfrm>
            <a:off x="7909560" y="3227832"/>
            <a:ext cx="3642055" cy="219456"/>
          </a:xfrm>
          <a:prstGeom prst="rect">
            <a:avLst/>
          </a:prstGeom>
          <a:noFill/>
          <a:ln/>
        </p:spPr>
        <p:txBody>
          <a:bodyPr wrap="square" rtlCol="0" anchor="ctr"/>
          <a:lstStyle/>
          <a:p>
            <a:pPr marL="0" indent="0">
              <a:buNone/>
            </a:pPr>
            <a:r>
              <a:rPr lang="en-US" sz="1050" b="1" kern="0" spc="100" dirty="0">
                <a:solidFill>
                  <a:srgbClr val="7A3406"/>
                </a:solidFill>
                <a:latin typeface="Calibri" pitchFamily="34" charset="0"/>
                <a:ea typeface="Calibri" pitchFamily="34" charset="-122"/>
                <a:cs typeface="Calibri" pitchFamily="34" charset="-120"/>
              </a:rPr>
              <a:t>APPROACH</a:t>
            </a:r>
            <a:endParaRPr lang="en-US" sz="1050" dirty="0"/>
          </a:p>
        </p:txBody>
      </p:sp>
      <p:sp>
        <p:nvSpPr>
          <p:cNvPr id="11" name="Text 8"/>
          <p:cNvSpPr/>
          <p:nvPr/>
        </p:nvSpPr>
        <p:spPr>
          <a:xfrm>
            <a:off x="7909560" y="3447288"/>
            <a:ext cx="3642055" cy="685800"/>
          </a:xfrm>
          <a:prstGeom prst="rect">
            <a:avLst/>
          </a:prstGeom>
          <a:noFill/>
          <a:ln/>
        </p:spPr>
        <p:txBody>
          <a:bodyPr wrap="square" rtlCol="0" anchor="t"/>
          <a:lstStyle/>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Year-over-year growth-rate (trend) analysis of total ticket volume.</a:t>
            </a:r>
            <a:endParaRPr lang="en-US" sz="1050" dirty="0"/>
          </a:p>
        </p:txBody>
      </p:sp>
      <p:sp>
        <p:nvSpPr>
          <p:cNvPr id="12" name="Shape 9"/>
          <p:cNvSpPr/>
          <p:nvPr/>
        </p:nvSpPr>
        <p:spPr>
          <a:xfrm>
            <a:off x="7772400" y="4325112"/>
            <a:ext cx="3916375" cy="2075688"/>
          </a:xfrm>
          <a:prstGeom prst="roundRect">
            <a:avLst>
              <a:gd name="adj" fmla="val 2203"/>
            </a:avLst>
          </a:prstGeom>
          <a:solidFill>
            <a:srgbClr val="C1560C"/>
          </a:solidFill>
          <a:ln/>
        </p:spPr>
      </p:sp>
      <p:sp>
        <p:nvSpPr>
          <p:cNvPr id="13" name="Text 10"/>
          <p:cNvSpPr/>
          <p:nvPr/>
        </p:nvSpPr>
        <p:spPr>
          <a:xfrm>
            <a:off x="7909560" y="4416552"/>
            <a:ext cx="3642055" cy="219456"/>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RECOMMENDATION</a:t>
            </a:r>
            <a:endParaRPr lang="en-US" sz="1050" dirty="0"/>
          </a:p>
        </p:txBody>
      </p:sp>
      <p:sp>
        <p:nvSpPr>
          <p:cNvPr id="14" name="Text 11"/>
          <p:cNvSpPr/>
          <p:nvPr/>
        </p:nvSpPr>
        <p:spPr>
          <a:xfrm>
            <a:off x="7909560" y="4636008"/>
            <a:ext cx="3642055" cy="1673352"/>
          </a:xfrm>
          <a:prstGeom prst="rect">
            <a:avLst/>
          </a:prstGeom>
          <a:noFill/>
          <a:ln/>
        </p:spPr>
        <p:txBody>
          <a:bodyPr wrap="square" rtlCol="0" anchor="t"/>
          <a:lstStyle/>
          <a:p>
            <a:pPr marL="0" indent="0">
              <a:lnSpc>
                <a:spcPct val="105000"/>
              </a:lnSpc>
              <a:buNone/>
            </a:pPr>
            <a:r>
              <a:rPr lang="en-US" sz="1050" dirty="0">
                <a:solidFill>
                  <a:srgbClr val="FFFFFF"/>
                </a:solidFill>
                <a:latin typeface="Calibri" pitchFamily="34" charset="0"/>
                <a:ea typeface="Calibri" pitchFamily="34" charset="-122"/>
                <a:cs typeface="Calibri" pitchFamily="34" charset="-120"/>
              </a:rPr>
              <a:t>Build a capacity plan now — agent hiring, automation, or self-service deflection — sized to the accelerating +35% growth rate, not the 5-year average, to avoid falling behind demand.</a:t>
            </a:r>
            <a:endParaRPr lang="en-US" sz="1050" dirty="0"/>
          </a:p>
        </p:txBody>
      </p:sp>
      <p:graphicFrame>
        <p:nvGraphicFramePr>
          <p:cNvPr id="15" name="Chart 14">
            <a:extLst>
              <a:ext uri="{FF2B5EF4-FFF2-40B4-BE49-F238E27FC236}">
                <a16:creationId xmlns:a16="http://schemas.microsoft.com/office/drawing/2014/main" id="{62FF8277-DCA8-4915-AB77-26D968D7C38A}"/>
              </a:ext>
            </a:extLst>
          </p:cNvPr>
          <p:cNvGraphicFramePr>
            <a:graphicFrameLocks/>
          </p:cNvGraphicFramePr>
          <p:nvPr>
            <p:extLst>
              <p:ext uri="{D42A27DB-BD31-4B8C-83A1-F6EECF244321}">
                <p14:modId xmlns:p14="http://schemas.microsoft.com/office/powerpoint/2010/main" val="2143227103"/>
              </p:ext>
            </p:extLst>
          </p:nvPr>
        </p:nvGraphicFramePr>
        <p:xfrm>
          <a:off x="548640" y="1408176"/>
          <a:ext cx="6739666" cy="460714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DASHBOARD ANALYSIS  ·  8/9</a:t>
            </a:r>
            <a:endParaRPr lang="en-US" sz="1200" dirty="0"/>
          </a:p>
        </p:txBody>
      </p:sp>
      <p:sp>
        <p:nvSpPr>
          <p:cNvPr id="3" name="Text 1"/>
          <p:cNvSpPr/>
          <p:nvPr/>
        </p:nvSpPr>
        <p:spPr>
          <a:xfrm>
            <a:off x="548640" y="566928"/>
            <a:ext cx="7315200" cy="640080"/>
          </a:xfrm>
          <a:prstGeom prst="rect">
            <a:avLst/>
          </a:prstGeom>
          <a:noFill/>
          <a:ln/>
        </p:spPr>
        <p:txBody>
          <a:bodyPr wrap="square" rtlCol="0" anchor="ctr"/>
          <a:lstStyle/>
          <a:p>
            <a:pPr marL="0" indent="0">
              <a:buNone/>
            </a:pPr>
            <a:r>
              <a:rPr lang="en-US" sz="2500" b="1" dirty="0">
                <a:solidFill>
                  <a:srgbClr val="262626"/>
                </a:solidFill>
                <a:latin typeface="Cambria" pitchFamily="34" charset="0"/>
                <a:ea typeface="Cambria" pitchFamily="34" charset="-122"/>
                <a:cs typeface="Cambria" pitchFamily="34" charset="-120"/>
              </a:rPr>
              <a:t>Average Satisfaction Rate by Age Group</a:t>
            </a:r>
            <a:endParaRPr lang="en-US" sz="2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sp>
        <p:nvSpPr>
          <p:cNvPr id="7" name="Text 4"/>
          <p:cNvSpPr/>
          <p:nvPr/>
        </p:nvSpPr>
        <p:spPr>
          <a:xfrm>
            <a:off x="7772400" y="566928"/>
            <a:ext cx="3916375" cy="274320"/>
          </a:xfrm>
          <a:prstGeom prst="rect">
            <a:avLst/>
          </a:prstGeom>
          <a:noFill/>
          <a:ln/>
        </p:spPr>
        <p:txBody>
          <a:bodyPr wrap="square" rtlCol="0" anchor="ctr"/>
          <a:lstStyle/>
          <a:p>
            <a:pPr marL="0" indent="0">
              <a:buNone/>
            </a:pPr>
            <a:r>
              <a:rPr lang="en-US" sz="1250" b="1" kern="0" spc="100" dirty="0">
                <a:solidFill>
                  <a:srgbClr val="C1560C"/>
                </a:solidFill>
                <a:latin typeface="Calibri" pitchFamily="34" charset="0"/>
                <a:ea typeface="Calibri" pitchFamily="34" charset="-122"/>
                <a:cs typeface="Calibri" pitchFamily="34" charset="-120"/>
              </a:rPr>
              <a:t>KEY INSIGHTS</a:t>
            </a:r>
            <a:endParaRPr lang="en-US" sz="1250" dirty="0"/>
          </a:p>
        </p:txBody>
      </p:sp>
      <p:sp>
        <p:nvSpPr>
          <p:cNvPr id="8" name="Text 5"/>
          <p:cNvSpPr/>
          <p:nvPr/>
        </p:nvSpPr>
        <p:spPr>
          <a:xfrm>
            <a:off x="7772400" y="896112"/>
            <a:ext cx="3916375" cy="2148840"/>
          </a:xfrm>
          <a:prstGeom prst="rect">
            <a:avLst/>
          </a:prstGeom>
          <a:noFill/>
          <a:ln/>
        </p:spPr>
        <p:txBody>
          <a:bodyPr wrap="square" rtlCol="0" anchor="t"/>
          <a:lstStyle/>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Satisfaction doesn’t move linearly with agent age: the 54-58 age band scores highest (4.39), while the 34-38 band scores lowest (3.96) — a 0.43-point (11%) gap between them.</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The most experienced agent band (54-58) outperforms every other group, suggesting tenure/experience correlates with better service outcomes.</a:t>
            </a:r>
            <a:endParaRPr lang="en-US" sz="1150" dirty="0"/>
          </a:p>
          <a:p>
            <a:pPr marL="152400" indent="-152400">
              <a:lnSpc>
                <a:spcPct val="108000"/>
              </a:lnSpc>
              <a:spcAft>
                <a:spcPts val="800"/>
              </a:spcAft>
              <a:buSzPct val="100000"/>
              <a:buChar char="▪"/>
            </a:pPr>
            <a:r>
              <a:rPr lang="en-US" sz="1150" dirty="0">
                <a:solidFill>
                  <a:srgbClr val="262626"/>
                </a:solidFill>
                <a:latin typeface="Calibri" pitchFamily="34" charset="0"/>
                <a:ea typeface="Calibri" pitchFamily="34" charset="-122"/>
                <a:cs typeface="Calibri" pitchFamily="34" charset="-120"/>
              </a:rPr>
              <a:t>The dip is isolated to the 34-38 band rather than a gradual decline, pointing to a specific, addressable segment rather than a broad age effect.</a:t>
            </a:r>
            <a:endParaRPr lang="en-US" sz="1150" dirty="0"/>
          </a:p>
        </p:txBody>
      </p:sp>
      <p:sp>
        <p:nvSpPr>
          <p:cNvPr id="9" name="Shape 6"/>
          <p:cNvSpPr/>
          <p:nvPr/>
        </p:nvSpPr>
        <p:spPr>
          <a:xfrm>
            <a:off x="7772400" y="3136392"/>
            <a:ext cx="3916375" cy="1051560"/>
          </a:xfrm>
          <a:prstGeom prst="roundRect">
            <a:avLst>
              <a:gd name="adj" fmla="val 4348"/>
            </a:avLst>
          </a:prstGeom>
          <a:solidFill>
            <a:srgbClr val="FBEEE1"/>
          </a:solidFill>
          <a:ln/>
        </p:spPr>
      </p:sp>
      <p:sp>
        <p:nvSpPr>
          <p:cNvPr id="10" name="Text 7"/>
          <p:cNvSpPr/>
          <p:nvPr/>
        </p:nvSpPr>
        <p:spPr>
          <a:xfrm>
            <a:off x="7909560" y="3227832"/>
            <a:ext cx="3642055" cy="219456"/>
          </a:xfrm>
          <a:prstGeom prst="rect">
            <a:avLst/>
          </a:prstGeom>
          <a:noFill/>
          <a:ln/>
        </p:spPr>
        <p:txBody>
          <a:bodyPr wrap="square" rtlCol="0" anchor="ctr"/>
          <a:lstStyle/>
          <a:p>
            <a:pPr marL="0" indent="0">
              <a:buNone/>
            </a:pPr>
            <a:r>
              <a:rPr lang="en-US" sz="1050" b="1" kern="0" spc="100" dirty="0">
                <a:solidFill>
                  <a:srgbClr val="7A3406"/>
                </a:solidFill>
                <a:latin typeface="Calibri" pitchFamily="34" charset="0"/>
                <a:ea typeface="Calibri" pitchFamily="34" charset="-122"/>
                <a:cs typeface="Calibri" pitchFamily="34" charset="-120"/>
              </a:rPr>
              <a:t>APPROACH</a:t>
            </a:r>
            <a:endParaRPr lang="en-US" sz="1050" dirty="0"/>
          </a:p>
        </p:txBody>
      </p:sp>
      <p:sp>
        <p:nvSpPr>
          <p:cNvPr id="11" name="Text 8"/>
          <p:cNvSpPr/>
          <p:nvPr/>
        </p:nvSpPr>
        <p:spPr>
          <a:xfrm>
            <a:off x="7909560" y="3447288"/>
            <a:ext cx="3642055" cy="685800"/>
          </a:xfrm>
          <a:prstGeom prst="rect">
            <a:avLst/>
          </a:prstGeom>
          <a:noFill/>
          <a:ln/>
        </p:spPr>
        <p:txBody>
          <a:bodyPr wrap="square" rtlCol="0" anchor="t"/>
          <a:lstStyle/>
          <a:p>
            <a:pPr marL="0" indent="0">
              <a:lnSpc>
                <a:spcPct val="105000"/>
              </a:lnSpc>
              <a:buNone/>
            </a:pPr>
            <a:r>
              <a:rPr lang="en-US" sz="1050" dirty="0">
                <a:solidFill>
                  <a:srgbClr val="262626"/>
                </a:solidFill>
                <a:latin typeface="Calibri" pitchFamily="34" charset="0"/>
                <a:ea typeface="Calibri" pitchFamily="34" charset="-122"/>
                <a:cs typeface="Calibri" pitchFamily="34" charset="-120"/>
              </a:rPr>
              <a:t>Segmentation analysis comparing average satisfaction across agent age bands.</a:t>
            </a:r>
            <a:endParaRPr lang="en-US" sz="1050" dirty="0"/>
          </a:p>
        </p:txBody>
      </p:sp>
      <p:sp>
        <p:nvSpPr>
          <p:cNvPr id="12" name="Shape 9"/>
          <p:cNvSpPr/>
          <p:nvPr/>
        </p:nvSpPr>
        <p:spPr>
          <a:xfrm>
            <a:off x="7772400" y="4325112"/>
            <a:ext cx="3916375" cy="2075688"/>
          </a:xfrm>
          <a:prstGeom prst="roundRect">
            <a:avLst>
              <a:gd name="adj" fmla="val 2203"/>
            </a:avLst>
          </a:prstGeom>
          <a:solidFill>
            <a:srgbClr val="C1560C"/>
          </a:solidFill>
          <a:ln/>
        </p:spPr>
      </p:sp>
      <p:sp>
        <p:nvSpPr>
          <p:cNvPr id="13" name="Text 10"/>
          <p:cNvSpPr/>
          <p:nvPr/>
        </p:nvSpPr>
        <p:spPr>
          <a:xfrm>
            <a:off x="7909560" y="4416552"/>
            <a:ext cx="3642055" cy="219456"/>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RECOMMENDATION</a:t>
            </a:r>
            <a:endParaRPr lang="en-US" sz="1050" dirty="0"/>
          </a:p>
        </p:txBody>
      </p:sp>
      <p:sp>
        <p:nvSpPr>
          <p:cNvPr id="14" name="Text 11"/>
          <p:cNvSpPr/>
          <p:nvPr/>
        </p:nvSpPr>
        <p:spPr>
          <a:xfrm>
            <a:off x="7909560" y="4636008"/>
            <a:ext cx="3642055" cy="1673352"/>
          </a:xfrm>
          <a:prstGeom prst="rect">
            <a:avLst/>
          </a:prstGeom>
          <a:noFill/>
          <a:ln/>
        </p:spPr>
        <p:txBody>
          <a:bodyPr wrap="square" rtlCol="0" anchor="t"/>
          <a:lstStyle/>
          <a:p>
            <a:pPr marL="0" indent="0">
              <a:lnSpc>
                <a:spcPct val="105000"/>
              </a:lnSpc>
              <a:buNone/>
            </a:pPr>
            <a:r>
              <a:rPr lang="en-US" sz="1050" dirty="0">
                <a:solidFill>
                  <a:srgbClr val="FFFFFF"/>
                </a:solidFill>
                <a:latin typeface="Calibri" pitchFamily="34" charset="0"/>
                <a:ea typeface="Calibri" pitchFamily="34" charset="-122"/>
                <a:cs typeface="Calibri" pitchFamily="34" charset="-120"/>
              </a:rPr>
              <a:t>Pair agents in the 34-38 band with senior mentors from the 54-58 band and review their ticket mix/coaching needs — closing this single segment’s gap lifts the desk-wide average.</a:t>
            </a:r>
            <a:endParaRPr lang="en-US" sz="1050" dirty="0"/>
          </a:p>
        </p:txBody>
      </p:sp>
      <p:graphicFrame>
        <p:nvGraphicFramePr>
          <p:cNvPr id="15" name="Chart 14">
            <a:extLst>
              <a:ext uri="{FF2B5EF4-FFF2-40B4-BE49-F238E27FC236}">
                <a16:creationId xmlns:a16="http://schemas.microsoft.com/office/drawing/2014/main" id="{36527697-83D9-DF62-ABDB-7278CBBCAB92}"/>
              </a:ext>
            </a:extLst>
          </p:cNvPr>
          <p:cNvGraphicFramePr>
            <a:graphicFrameLocks/>
          </p:cNvGraphicFramePr>
          <p:nvPr>
            <p:extLst>
              <p:ext uri="{D42A27DB-BD31-4B8C-83A1-F6EECF244321}">
                <p14:modId xmlns:p14="http://schemas.microsoft.com/office/powerpoint/2010/main" val="471602568"/>
              </p:ext>
            </p:extLst>
          </p:nvPr>
        </p:nvGraphicFramePr>
        <p:xfrm>
          <a:off x="548640" y="1408176"/>
          <a:ext cx="6676913" cy="451749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F6F387-DB78-0E90-D544-9848D013F88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8ACCE7E-8B14-3A03-38A5-7782887983A4}"/>
              </a:ext>
            </a:extLst>
          </p:cNvPr>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DASHBOARD ANALYSIS  ·  9/9</a:t>
            </a:r>
            <a:endParaRPr lang="en-US" sz="1200" dirty="0"/>
          </a:p>
        </p:txBody>
      </p:sp>
      <p:sp>
        <p:nvSpPr>
          <p:cNvPr id="3" name="Text 1">
            <a:extLst>
              <a:ext uri="{FF2B5EF4-FFF2-40B4-BE49-F238E27FC236}">
                <a16:creationId xmlns:a16="http://schemas.microsoft.com/office/drawing/2014/main" id="{61C02F0D-358F-C5D2-AA10-D83CFEBB13B9}"/>
              </a:ext>
            </a:extLst>
          </p:cNvPr>
          <p:cNvSpPr/>
          <p:nvPr/>
        </p:nvSpPr>
        <p:spPr>
          <a:xfrm>
            <a:off x="548640" y="566928"/>
            <a:ext cx="7315200" cy="640080"/>
          </a:xfrm>
          <a:prstGeom prst="rect">
            <a:avLst/>
          </a:prstGeom>
          <a:noFill/>
          <a:ln/>
        </p:spPr>
        <p:txBody>
          <a:bodyPr wrap="square" rtlCol="0" anchor="ctr"/>
          <a:lstStyle/>
          <a:p>
            <a:pPr>
              <a:lnSpc>
                <a:spcPts val="3060"/>
              </a:lnSpc>
            </a:pPr>
            <a:r>
              <a:rPr lang="en-US" sz="2000" b="1" dirty="0">
                <a:solidFill>
                  <a:srgbClr val="1E242B"/>
                </a:solidFill>
                <a:latin typeface="Merriweather"/>
              </a:rPr>
              <a:t>Distribution of Tickets Based on Resolution Time</a:t>
            </a:r>
          </a:p>
        </p:txBody>
      </p:sp>
      <p:sp>
        <p:nvSpPr>
          <p:cNvPr id="4" name="Text 2">
            <a:extLst>
              <a:ext uri="{FF2B5EF4-FFF2-40B4-BE49-F238E27FC236}">
                <a16:creationId xmlns:a16="http://schemas.microsoft.com/office/drawing/2014/main" id="{0DC804C3-850A-3AE5-AD72-F545E73C71DB}"/>
              </a:ext>
            </a:extLst>
          </p:cNvPr>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12</a:t>
            </a:r>
            <a:endParaRPr lang="en-US" sz="1000" dirty="0"/>
          </a:p>
        </p:txBody>
      </p:sp>
      <p:sp>
        <p:nvSpPr>
          <p:cNvPr id="7" name="Text 4">
            <a:extLst>
              <a:ext uri="{FF2B5EF4-FFF2-40B4-BE49-F238E27FC236}">
                <a16:creationId xmlns:a16="http://schemas.microsoft.com/office/drawing/2014/main" id="{E8872FD9-E247-2B91-D000-F8CE943DB91B}"/>
              </a:ext>
            </a:extLst>
          </p:cNvPr>
          <p:cNvSpPr/>
          <p:nvPr/>
        </p:nvSpPr>
        <p:spPr>
          <a:xfrm>
            <a:off x="7772399" y="781971"/>
            <a:ext cx="3916375" cy="274320"/>
          </a:xfrm>
          <a:prstGeom prst="rect">
            <a:avLst/>
          </a:prstGeom>
          <a:noFill/>
          <a:ln/>
        </p:spPr>
        <p:txBody>
          <a:bodyPr wrap="square" rtlCol="0" anchor="ctr"/>
          <a:lstStyle/>
          <a:p>
            <a:pPr marL="0" indent="0">
              <a:buNone/>
            </a:pPr>
            <a:r>
              <a:rPr lang="en-US" sz="1250" b="1" kern="0" spc="100" dirty="0">
                <a:solidFill>
                  <a:srgbClr val="C1560C"/>
                </a:solidFill>
                <a:latin typeface="Calibri" pitchFamily="34" charset="0"/>
                <a:ea typeface="Calibri" pitchFamily="34" charset="-122"/>
                <a:cs typeface="Calibri" pitchFamily="34" charset="-120"/>
              </a:rPr>
              <a:t>KEY INSIGHTS</a:t>
            </a:r>
            <a:endParaRPr lang="en-US" sz="1250" dirty="0"/>
          </a:p>
        </p:txBody>
      </p:sp>
      <p:sp>
        <p:nvSpPr>
          <p:cNvPr id="8" name="Text 5">
            <a:extLst>
              <a:ext uri="{FF2B5EF4-FFF2-40B4-BE49-F238E27FC236}">
                <a16:creationId xmlns:a16="http://schemas.microsoft.com/office/drawing/2014/main" id="{5926FF4D-05E9-C936-ABB2-A659C599C7C8}"/>
              </a:ext>
            </a:extLst>
          </p:cNvPr>
          <p:cNvSpPr/>
          <p:nvPr/>
        </p:nvSpPr>
        <p:spPr>
          <a:xfrm>
            <a:off x="7772400" y="896112"/>
            <a:ext cx="3916375" cy="2148840"/>
          </a:xfrm>
          <a:prstGeom prst="rect">
            <a:avLst/>
          </a:prstGeom>
          <a:noFill/>
          <a:ln/>
        </p:spPr>
        <p:txBody>
          <a:bodyPr wrap="square" rtlCol="0" anchor="t"/>
          <a:lstStyle/>
          <a:p>
            <a:pPr marL="152400" indent="-152400">
              <a:lnSpc>
                <a:spcPct val="108000"/>
              </a:lnSpc>
              <a:spcAft>
                <a:spcPts val="800"/>
              </a:spcAft>
              <a:buSzPct val="100000"/>
              <a:buChar char="▪"/>
            </a:pPr>
            <a:endParaRPr lang="en-US" sz="1150" dirty="0"/>
          </a:p>
        </p:txBody>
      </p:sp>
      <p:sp>
        <p:nvSpPr>
          <p:cNvPr id="9" name="Shape 6">
            <a:extLst>
              <a:ext uri="{FF2B5EF4-FFF2-40B4-BE49-F238E27FC236}">
                <a16:creationId xmlns:a16="http://schemas.microsoft.com/office/drawing/2014/main" id="{F09035B1-97A3-46C7-29F5-5071F540F580}"/>
              </a:ext>
            </a:extLst>
          </p:cNvPr>
          <p:cNvSpPr/>
          <p:nvPr/>
        </p:nvSpPr>
        <p:spPr>
          <a:xfrm>
            <a:off x="7772400" y="3136392"/>
            <a:ext cx="3916375" cy="1051560"/>
          </a:xfrm>
          <a:prstGeom prst="roundRect">
            <a:avLst>
              <a:gd name="adj" fmla="val 4348"/>
            </a:avLst>
          </a:prstGeom>
          <a:solidFill>
            <a:srgbClr val="FBEEE1"/>
          </a:solidFill>
          <a:ln/>
        </p:spPr>
      </p:sp>
      <p:sp>
        <p:nvSpPr>
          <p:cNvPr id="10" name="Text 7">
            <a:extLst>
              <a:ext uri="{FF2B5EF4-FFF2-40B4-BE49-F238E27FC236}">
                <a16:creationId xmlns:a16="http://schemas.microsoft.com/office/drawing/2014/main" id="{914A3AB8-759B-C9A3-5FBE-B54783940F55}"/>
              </a:ext>
            </a:extLst>
          </p:cNvPr>
          <p:cNvSpPr/>
          <p:nvPr/>
        </p:nvSpPr>
        <p:spPr>
          <a:xfrm>
            <a:off x="7909560" y="3227832"/>
            <a:ext cx="3642055" cy="219456"/>
          </a:xfrm>
          <a:prstGeom prst="rect">
            <a:avLst/>
          </a:prstGeom>
          <a:noFill/>
          <a:ln/>
        </p:spPr>
        <p:txBody>
          <a:bodyPr wrap="square" rtlCol="0" anchor="ctr"/>
          <a:lstStyle/>
          <a:p>
            <a:pPr marL="0" indent="0">
              <a:buNone/>
            </a:pPr>
            <a:r>
              <a:rPr lang="en-US" sz="1050" b="1" kern="0" spc="100" dirty="0">
                <a:solidFill>
                  <a:srgbClr val="7A3406"/>
                </a:solidFill>
                <a:latin typeface="Calibri" pitchFamily="34" charset="0"/>
                <a:ea typeface="Calibri" pitchFamily="34" charset="-122"/>
                <a:cs typeface="Calibri" pitchFamily="34" charset="-120"/>
              </a:rPr>
              <a:t>APPROACH</a:t>
            </a:r>
            <a:endParaRPr lang="en-US" sz="1050" dirty="0"/>
          </a:p>
        </p:txBody>
      </p:sp>
      <p:sp>
        <p:nvSpPr>
          <p:cNvPr id="11" name="Text 8">
            <a:extLst>
              <a:ext uri="{FF2B5EF4-FFF2-40B4-BE49-F238E27FC236}">
                <a16:creationId xmlns:a16="http://schemas.microsoft.com/office/drawing/2014/main" id="{3CDF01EE-1CE2-6761-3DD7-6B0495F20F3D}"/>
              </a:ext>
            </a:extLst>
          </p:cNvPr>
          <p:cNvSpPr/>
          <p:nvPr/>
        </p:nvSpPr>
        <p:spPr>
          <a:xfrm>
            <a:off x="7909560" y="3429000"/>
            <a:ext cx="3642055" cy="704088"/>
          </a:xfrm>
          <a:prstGeom prst="rect">
            <a:avLst/>
          </a:prstGeom>
          <a:noFill/>
          <a:ln/>
        </p:spPr>
        <p:txBody>
          <a:bodyPr wrap="square" rtlCol="0" anchor="t"/>
          <a:lstStyle/>
          <a:p>
            <a:pPr>
              <a:lnSpc>
                <a:spcPct val="105000"/>
              </a:lnSpc>
            </a:pPr>
            <a:r>
              <a:rPr lang="en-US" sz="1050" dirty="0">
                <a:solidFill>
                  <a:srgbClr val="475569"/>
                </a:solidFill>
                <a:latin typeface="Open Sans"/>
              </a:rPr>
              <a:t>Frequency distribution mapping of resolution turnaround times (in days) across total ticket volume to evaluate SLA adherence and identify cycle-time bottlenecks.</a:t>
            </a:r>
          </a:p>
          <a:p>
            <a:pPr marL="0" indent="0">
              <a:lnSpc>
                <a:spcPct val="105000"/>
              </a:lnSpc>
              <a:buNone/>
            </a:pPr>
            <a:endParaRPr lang="en-US" sz="1050" dirty="0"/>
          </a:p>
        </p:txBody>
      </p:sp>
      <p:sp>
        <p:nvSpPr>
          <p:cNvPr id="12" name="Shape 9">
            <a:extLst>
              <a:ext uri="{FF2B5EF4-FFF2-40B4-BE49-F238E27FC236}">
                <a16:creationId xmlns:a16="http://schemas.microsoft.com/office/drawing/2014/main" id="{9296F5BA-2C2C-48F6-F4E0-5FA09DDEE932}"/>
              </a:ext>
            </a:extLst>
          </p:cNvPr>
          <p:cNvSpPr/>
          <p:nvPr/>
        </p:nvSpPr>
        <p:spPr>
          <a:xfrm>
            <a:off x="7772400" y="4325112"/>
            <a:ext cx="3916375" cy="2075688"/>
          </a:xfrm>
          <a:prstGeom prst="roundRect">
            <a:avLst>
              <a:gd name="adj" fmla="val 2203"/>
            </a:avLst>
          </a:prstGeom>
          <a:solidFill>
            <a:srgbClr val="C1560C"/>
          </a:solidFill>
          <a:ln/>
        </p:spPr>
      </p:sp>
      <p:sp>
        <p:nvSpPr>
          <p:cNvPr id="13" name="Text 10">
            <a:extLst>
              <a:ext uri="{FF2B5EF4-FFF2-40B4-BE49-F238E27FC236}">
                <a16:creationId xmlns:a16="http://schemas.microsoft.com/office/drawing/2014/main" id="{FCD4CC1B-E2A0-D535-36C7-4226CAFF9704}"/>
              </a:ext>
            </a:extLst>
          </p:cNvPr>
          <p:cNvSpPr/>
          <p:nvPr/>
        </p:nvSpPr>
        <p:spPr>
          <a:xfrm>
            <a:off x="7909560" y="4416552"/>
            <a:ext cx="3642055" cy="219456"/>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RECOMMENDATION</a:t>
            </a:r>
            <a:endParaRPr lang="en-US" sz="1050" dirty="0"/>
          </a:p>
        </p:txBody>
      </p:sp>
      <p:sp>
        <p:nvSpPr>
          <p:cNvPr id="14" name="Text 11">
            <a:extLst>
              <a:ext uri="{FF2B5EF4-FFF2-40B4-BE49-F238E27FC236}">
                <a16:creationId xmlns:a16="http://schemas.microsoft.com/office/drawing/2014/main" id="{03CA532C-B822-8886-1009-17054E4EF53F}"/>
              </a:ext>
            </a:extLst>
          </p:cNvPr>
          <p:cNvSpPr/>
          <p:nvPr/>
        </p:nvSpPr>
        <p:spPr>
          <a:xfrm>
            <a:off x="7909560" y="4636008"/>
            <a:ext cx="3642055" cy="1673352"/>
          </a:xfrm>
          <a:prstGeom prst="rect">
            <a:avLst/>
          </a:prstGeom>
          <a:noFill/>
          <a:ln/>
        </p:spPr>
        <p:txBody>
          <a:bodyPr wrap="square" rtlCol="0" anchor="t"/>
          <a:lstStyle/>
          <a:p>
            <a:pPr>
              <a:lnSpc>
                <a:spcPct val="105000"/>
              </a:lnSpc>
            </a:pPr>
            <a:r>
              <a:rPr lang="en-US" sz="1050" dirty="0">
                <a:solidFill>
                  <a:srgbClr val="FFFFFF"/>
                </a:solidFill>
                <a:latin typeface="Open Sans"/>
              </a:rPr>
              <a:t>Streamline mid-tier workflows to compress the Day 5–7 resolution peak, and implement automated triggers for tickets approaching Day 10 to eliminate long-tail delays.</a:t>
            </a:r>
          </a:p>
          <a:p>
            <a:pPr marL="0" indent="0">
              <a:lnSpc>
                <a:spcPct val="105000"/>
              </a:lnSpc>
              <a:buNone/>
            </a:pPr>
            <a:endParaRPr lang="en-US" sz="1050" dirty="0"/>
          </a:p>
        </p:txBody>
      </p:sp>
      <p:graphicFrame>
        <p:nvGraphicFramePr>
          <p:cNvPr id="5" name="Chart 4">
            <a:extLst>
              <a:ext uri="{FF2B5EF4-FFF2-40B4-BE49-F238E27FC236}">
                <a16:creationId xmlns:a16="http://schemas.microsoft.com/office/drawing/2014/main" id="{3AEB1C0E-C54B-8245-19BE-7F5C1ECED6D2}"/>
              </a:ext>
            </a:extLst>
          </p:cNvPr>
          <p:cNvGraphicFramePr>
            <a:graphicFrameLocks/>
          </p:cNvGraphicFramePr>
          <p:nvPr>
            <p:extLst>
              <p:ext uri="{D42A27DB-BD31-4B8C-83A1-F6EECF244321}">
                <p14:modId xmlns:p14="http://schemas.microsoft.com/office/powerpoint/2010/main" val="1849961570"/>
              </p:ext>
            </p:extLst>
          </p:nvPr>
        </p:nvGraphicFramePr>
        <p:xfrm>
          <a:off x="548640" y="1630160"/>
          <a:ext cx="6918960" cy="4537558"/>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F6A38C87-0843-0594-185B-180B0192B7A6}"/>
              </a:ext>
            </a:extLst>
          </p:cNvPr>
          <p:cNvSpPr txBox="1"/>
          <p:nvPr/>
        </p:nvSpPr>
        <p:spPr>
          <a:xfrm>
            <a:off x="7772400" y="1256990"/>
            <a:ext cx="3700908" cy="558998"/>
          </a:xfrm>
          <a:prstGeom prst="rect">
            <a:avLst/>
          </a:prstGeom>
          <a:noFill/>
        </p:spPr>
        <p:txBody>
          <a:bodyPr wrap="square" lIns="0" tIns="0" rIns="0" bIns="0" anchor="t">
            <a:spAutoFit/>
          </a:bodyPr>
          <a:lstStyle/>
          <a:p>
            <a:pPr algn="l">
              <a:lnSpc>
                <a:spcPts val="1468"/>
              </a:lnSpc>
            </a:pPr>
            <a:r>
              <a:rPr sz="1012" b="1" i="0" u="none" dirty="0">
                <a:solidFill>
                  <a:srgbClr val="334155"/>
                </a:solidFill>
                <a:latin typeface="Open Sans"/>
              </a:rPr>
              <a:t>Same-day turnaround dominates:</a:t>
            </a:r>
            <a:r>
              <a:rPr sz="1012" b="0" i="0" u="none" dirty="0">
                <a:solidFill>
                  <a:srgbClr val="334155"/>
                </a:solidFill>
                <a:latin typeface="Open Sans"/>
              </a:rPr>
              <a:t> 25,071 tickets (over 25% of overall volume) are resolved on Day 0, demonstrating fast initial response efficiency.</a:t>
            </a:r>
          </a:p>
        </p:txBody>
      </p:sp>
      <p:sp>
        <p:nvSpPr>
          <p:cNvPr id="16" name="TextBox 15">
            <a:extLst>
              <a:ext uri="{FF2B5EF4-FFF2-40B4-BE49-F238E27FC236}">
                <a16:creationId xmlns:a16="http://schemas.microsoft.com/office/drawing/2014/main" id="{BBA76932-95BE-8A81-847B-F71B286F8A13}"/>
              </a:ext>
            </a:extLst>
          </p:cNvPr>
          <p:cNvSpPr txBox="1"/>
          <p:nvPr/>
        </p:nvSpPr>
        <p:spPr>
          <a:xfrm>
            <a:off x="7772400" y="2070866"/>
            <a:ext cx="3700908" cy="558998"/>
          </a:xfrm>
          <a:prstGeom prst="rect">
            <a:avLst/>
          </a:prstGeom>
          <a:noFill/>
        </p:spPr>
        <p:txBody>
          <a:bodyPr wrap="square" lIns="0" tIns="0" rIns="0" bIns="0" anchor="t">
            <a:spAutoFit/>
          </a:bodyPr>
          <a:lstStyle/>
          <a:p>
            <a:pPr algn="l">
              <a:lnSpc>
                <a:spcPts val="1468"/>
              </a:lnSpc>
            </a:pPr>
            <a:r>
              <a:rPr sz="1012" b="1" i="0" u="none" dirty="0">
                <a:solidFill>
                  <a:srgbClr val="334155"/>
                </a:solidFill>
                <a:latin typeface="Open Sans"/>
              </a:rPr>
              <a:t>Secondary peak at Days 5–7:</a:t>
            </a:r>
            <a:r>
              <a:rPr sz="1012" b="0" i="0" u="none" dirty="0">
                <a:solidFill>
                  <a:srgbClr val="334155"/>
                </a:solidFill>
                <a:latin typeface="Open Sans"/>
              </a:rPr>
              <a:t> Resolution volume spikes again between Days 5 and 7 (23,173 tickets), reflecting standard weekly SLA limits and escalated cases.</a:t>
            </a:r>
          </a:p>
        </p:txBody>
      </p:sp>
    </p:spTree>
    <p:extLst>
      <p:ext uri="{BB962C8B-B14F-4D97-AF65-F5344CB8AC3E}">
        <p14:creationId xmlns:p14="http://schemas.microsoft.com/office/powerpoint/2010/main" val="656360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62626"/>
                </a:solidFill>
                <a:latin typeface="Cambria" pitchFamily="34" charset="0"/>
                <a:ea typeface="Cambria" pitchFamily="34" charset="-122"/>
                <a:cs typeface="Cambria" pitchFamily="34" charset="-120"/>
              </a:rPr>
              <a:t>Dashboard Overview &amp; Key Findings</a:t>
            </a:r>
            <a:endParaRPr lang="en-US" sz="30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13</a:t>
            </a:r>
            <a:endParaRPr lang="en-US" sz="1000" dirty="0"/>
          </a:p>
        </p:txBody>
      </p:sp>
      <p:sp>
        <p:nvSpPr>
          <p:cNvPr id="22" name="Text 16"/>
          <p:cNvSpPr/>
          <p:nvPr/>
        </p:nvSpPr>
        <p:spPr>
          <a:xfrm>
            <a:off x="7909560" y="1218429"/>
            <a:ext cx="3779215" cy="274320"/>
          </a:xfrm>
          <a:prstGeom prst="rect">
            <a:avLst/>
          </a:prstGeom>
          <a:noFill/>
          <a:ln/>
        </p:spPr>
        <p:txBody>
          <a:bodyPr wrap="square" rtlCol="0" anchor="ctr"/>
          <a:lstStyle/>
          <a:p>
            <a:pPr marL="0" indent="0">
              <a:buNone/>
            </a:pPr>
            <a:r>
              <a:rPr lang="en-US" sz="1500" b="1" dirty="0">
                <a:solidFill>
                  <a:srgbClr val="262626"/>
                </a:solidFill>
                <a:latin typeface="Cambria" pitchFamily="34" charset="0"/>
                <a:ea typeface="Cambria" pitchFamily="34" charset="-122"/>
                <a:cs typeface="Cambria" pitchFamily="34" charset="-120"/>
              </a:rPr>
              <a:t>The Overall Story</a:t>
            </a:r>
            <a:endParaRPr lang="en-US" sz="1500" dirty="0"/>
          </a:p>
        </p:txBody>
      </p:sp>
      <p:sp>
        <p:nvSpPr>
          <p:cNvPr id="23" name="Text 17"/>
          <p:cNvSpPr/>
          <p:nvPr/>
        </p:nvSpPr>
        <p:spPr>
          <a:xfrm>
            <a:off x="7909560" y="1521077"/>
            <a:ext cx="3779215" cy="4266304"/>
          </a:xfrm>
          <a:prstGeom prst="rect">
            <a:avLst/>
          </a:prstGeom>
          <a:noFill/>
          <a:ln/>
        </p:spPr>
        <p:txBody>
          <a:bodyPr wrap="square" rtlCol="0" anchor="t"/>
          <a:lstStyle/>
          <a:p>
            <a:pPr marL="152400" indent="-152400">
              <a:lnSpc>
                <a:spcPct val="115000"/>
              </a:lnSpc>
              <a:spcAft>
                <a:spcPts val="1100"/>
              </a:spcAft>
              <a:buSzPct val="100000"/>
              <a:buChar char="▪"/>
            </a:pPr>
            <a:r>
              <a:rPr lang="en-US" sz="1100" dirty="0">
                <a:solidFill>
                  <a:srgbClr val="262626"/>
                </a:solidFill>
                <a:latin typeface="Calibri" pitchFamily="34" charset="0"/>
                <a:ea typeface="Calibri" pitchFamily="34" charset="-122"/>
                <a:cs typeface="Calibri" pitchFamily="34" charset="-120"/>
              </a:rPr>
              <a:t>Demand is outgrowing the current model: ticket volume more than doubled 2016–2020, with growth accelerating (+35% in the final year) against a flat 50-agent headcount.</a:t>
            </a:r>
            <a:endParaRPr lang="en-US" sz="1100" dirty="0"/>
          </a:p>
          <a:p>
            <a:pPr marL="152400" indent="-152400">
              <a:lnSpc>
                <a:spcPct val="115000"/>
              </a:lnSpc>
              <a:spcAft>
                <a:spcPts val="1100"/>
              </a:spcAft>
              <a:buSzPct val="100000"/>
              <a:buChar char="▪"/>
            </a:pPr>
            <a:r>
              <a:rPr lang="en-US" sz="1100" dirty="0">
                <a:solidFill>
                  <a:srgbClr val="262626"/>
                </a:solidFill>
                <a:latin typeface="Calibri" pitchFamily="34" charset="0"/>
                <a:ea typeface="Calibri" pitchFamily="34" charset="-122"/>
                <a:cs typeface="Calibri" pitchFamily="34" charset="-120"/>
              </a:rPr>
              <a:t>Two categories — System and Login Access — drive 70% of workload, and System is simultaneously high-volume and slow to resolve, making it the top efficiency lever.</a:t>
            </a:r>
            <a:endParaRPr lang="en-US" sz="1100" dirty="0"/>
          </a:p>
          <a:p>
            <a:pPr marL="152400" indent="-152400">
              <a:lnSpc>
                <a:spcPct val="115000"/>
              </a:lnSpc>
              <a:spcAft>
                <a:spcPts val="1100"/>
              </a:spcAft>
              <a:buSzPct val="100000"/>
              <a:buChar char="▪"/>
            </a:pPr>
            <a:r>
              <a:rPr lang="en-US" sz="1100" dirty="0">
                <a:solidFill>
                  <a:srgbClr val="262626"/>
                </a:solidFill>
                <a:latin typeface="Calibri" pitchFamily="34" charset="0"/>
                <a:ea typeface="Calibri" pitchFamily="34" charset="-122"/>
                <a:cs typeface="Calibri" pitchFamily="34" charset="-120"/>
              </a:rPr>
              <a:t>Almost 30% of tickets carry no priority and 91% share one severity tag, limiting the desk’s ability to route true urgency.</a:t>
            </a:r>
            <a:endParaRPr lang="en-US" sz="1100" dirty="0"/>
          </a:p>
          <a:p>
            <a:pPr marL="152400" indent="-152400">
              <a:lnSpc>
                <a:spcPct val="115000"/>
              </a:lnSpc>
              <a:spcAft>
                <a:spcPts val="1100"/>
              </a:spcAft>
              <a:buSzPct val="100000"/>
              <a:buChar char="▪"/>
            </a:pPr>
            <a:r>
              <a:rPr lang="en-US" sz="1100" dirty="0">
                <a:solidFill>
                  <a:srgbClr val="262626"/>
                </a:solidFill>
                <a:latin typeface="Calibri" pitchFamily="34" charset="0"/>
                <a:ea typeface="Calibri" pitchFamily="34" charset="-122"/>
                <a:cs typeface="Calibri" pitchFamily="34" charset="-120"/>
              </a:rPr>
              <a:t>Despite rising volume, satisfaction has improved every year (3.98 → 4.16), showing service quality is not (yet) breaking down under load.</a:t>
            </a:r>
            <a:endParaRPr lang="en-US" sz="1100" dirty="0"/>
          </a:p>
          <a:p>
            <a:pPr marL="152400" indent="-152400">
              <a:lnSpc>
                <a:spcPct val="115000"/>
              </a:lnSpc>
              <a:spcAft>
                <a:spcPts val="1100"/>
              </a:spcAft>
              <a:buSzPct val="100000"/>
              <a:buChar char="▪"/>
            </a:pPr>
            <a:r>
              <a:rPr lang="en-US" sz="1100" dirty="0">
                <a:solidFill>
                  <a:srgbClr val="262626"/>
                </a:solidFill>
                <a:latin typeface="Calibri" pitchFamily="34" charset="0"/>
                <a:ea typeface="Calibri" pitchFamily="34" charset="-122"/>
                <a:cs typeface="Calibri" pitchFamily="34" charset="-120"/>
              </a:rPr>
              <a:t>Service consistency varies by agent segment (age 34-38 lags at 3.96 vs. 4.39 for 54-58), pointing to a targeted coaching opportunity rather than a system-wide issue.</a:t>
            </a:r>
            <a:endParaRPr lang="en-US" sz="1100" dirty="0"/>
          </a:p>
        </p:txBody>
      </p:sp>
      <p:pic>
        <p:nvPicPr>
          <p:cNvPr id="6" name="Picture 5">
            <a:extLst>
              <a:ext uri="{FF2B5EF4-FFF2-40B4-BE49-F238E27FC236}">
                <a16:creationId xmlns:a16="http://schemas.microsoft.com/office/drawing/2014/main" id="{3DAE02F8-3220-5CC4-10E4-96A27AB0DF70}"/>
              </a:ext>
            </a:extLst>
          </p:cNvPr>
          <p:cNvPicPr>
            <a:picLocks noChangeAspect="1"/>
          </p:cNvPicPr>
          <p:nvPr/>
        </p:nvPicPr>
        <p:blipFill>
          <a:blip r:embed="rId3"/>
          <a:stretch>
            <a:fillRect/>
          </a:stretch>
        </p:blipFill>
        <p:spPr>
          <a:xfrm>
            <a:off x="548640" y="1521077"/>
            <a:ext cx="7109547" cy="39361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C1560C"/>
                </a:solidFill>
                <a:latin typeface="Calibri" pitchFamily="34" charset="0"/>
                <a:ea typeface="Calibri" pitchFamily="34" charset="-122"/>
                <a:cs typeface="Calibri" pitchFamily="34" charset="-120"/>
              </a:rPr>
              <a:t>ACTION PLAN</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3000" b="1" dirty="0">
                <a:solidFill>
                  <a:srgbClr val="262626"/>
                </a:solidFill>
                <a:latin typeface="Cambria" pitchFamily="34" charset="0"/>
                <a:ea typeface="Cambria" pitchFamily="34" charset="-122"/>
                <a:cs typeface="Cambria" pitchFamily="34" charset="-120"/>
              </a:rPr>
              <a:t>Strategic Recommendations</a:t>
            </a:r>
            <a:endParaRPr lang="en-US" sz="30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48640" y="1417320"/>
            <a:ext cx="5440680" cy="1188720"/>
          </a:xfrm>
          <a:prstGeom prst="roundRect">
            <a:avLst>
              <a:gd name="adj" fmla="val 4231"/>
            </a:avLst>
          </a:prstGeom>
          <a:solidFill>
            <a:srgbClr val="FCFAF7"/>
          </a:solidFill>
          <a:ln w="12700">
            <a:solidFill>
              <a:srgbClr val="EEE1D2"/>
            </a:solidFill>
            <a:prstDash val="solid"/>
          </a:ln>
        </p:spPr>
      </p:sp>
      <p:sp>
        <p:nvSpPr>
          <p:cNvPr id="6" name="Shape 4"/>
          <p:cNvSpPr/>
          <p:nvPr/>
        </p:nvSpPr>
        <p:spPr>
          <a:xfrm>
            <a:off x="694944" y="1554480"/>
            <a:ext cx="292608" cy="292608"/>
          </a:xfrm>
          <a:prstGeom prst="ellipse">
            <a:avLst/>
          </a:prstGeom>
          <a:solidFill>
            <a:srgbClr val="C1560C"/>
          </a:solidFill>
          <a:ln/>
        </p:spPr>
      </p:sp>
      <p:sp>
        <p:nvSpPr>
          <p:cNvPr id="7" name="Text 5"/>
          <p:cNvSpPr/>
          <p:nvPr/>
        </p:nvSpPr>
        <p:spPr>
          <a:xfrm>
            <a:off x="694944" y="1554480"/>
            <a:ext cx="292608" cy="292608"/>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078992" y="1545336"/>
            <a:ext cx="4754880" cy="292608"/>
          </a:xfrm>
          <a:prstGeom prst="rect">
            <a:avLst/>
          </a:prstGeom>
          <a:noFill/>
          <a:ln/>
        </p:spPr>
        <p:txBody>
          <a:bodyPr wrap="square" rtlCol="0" anchor="ctr"/>
          <a:lstStyle/>
          <a:p>
            <a:pPr marL="0" indent="0">
              <a:buNone/>
            </a:pPr>
            <a:r>
              <a:rPr lang="en-US" sz="1250" b="1" dirty="0">
                <a:solidFill>
                  <a:srgbClr val="7A3406"/>
                </a:solidFill>
                <a:latin typeface="Cambria" pitchFamily="34" charset="0"/>
                <a:ea typeface="Cambria" pitchFamily="34" charset="-122"/>
                <a:cs typeface="Cambria" pitchFamily="34" charset="-120"/>
              </a:rPr>
              <a:t>Workload Optimization</a:t>
            </a:r>
            <a:endParaRPr lang="en-US" sz="1250" dirty="0"/>
          </a:p>
        </p:txBody>
      </p:sp>
      <p:sp>
        <p:nvSpPr>
          <p:cNvPr id="9" name="Text 7"/>
          <p:cNvSpPr/>
          <p:nvPr/>
        </p:nvSpPr>
        <p:spPr>
          <a:xfrm>
            <a:off x="731520" y="1874520"/>
            <a:ext cx="5074920" cy="640080"/>
          </a:xfrm>
          <a:prstGeom prst="rect">
            <a:avLst/>
          </a:prstGeom>
          <a:noFill/>
          <a:ln/>
        </p:spPr>
        <p:txBody>
          <a:bodyPr wrap="square" rtlCol="0" anchor="t"/>
          <a:lstStyle/>
          <a:p>
            <a:pPr marL="0" indent="0">
              <a:lnSpc>
                <a:spcPct val="102000"/>
              </a:lnSpc>
              <a:buNone/>
            </a:pPr>
            <a:r>
              <a:rPr lang="en-US" sz="850" b="1" dirty="0">
                <a:solidFill>
                  <a:srgbClr val="262626"/>
                </a:solidFill>
                <a:latin typeface="Calibri" pitchFamily="34" charset="0"/>
                <a:ea typeface="Calibri" pitchFamily="34" charset="-122"/>
                <a:cs typeface="Calibri" pitchFamily="34" charset="-120"/>
              </a:rPr>
              <a:t>Observation: </a:t>
            </a:r>
            <a:r>
              <a:rPr lang="en-US" sz="850" dirty="0">
                <a:solidFill>
                  <a:srgbClr val="262626"/>
                </a:solidFill>
                <a:latin typeface="Calibri" pitchFamily="34" charset="0"/>
                <a:ea typeface="Calibri" pitchFamily="34" charset="-122"/>
                <a:cs typeface="Calibri" pitchFamily="34" charset="-120"/>
              </a:rPr>
              <a:t>Ticket volume grew 123% (2016–2020) with the growth rate accelerating (+35% in the last year).  </a:t>
            </a:r>
            <a:r>
              <a:rPr lang="en-US" sz="850" b="1" dirty="0">
                <a:solidFill>
                  <a:srgbClr val="262626"/>
                </a:solidFill>
                <a:latin typeface="Calibri" pitchFamily="34" charset="0"/>
                <a:ea typeface="Calibri" pitchFamily="34" charset="-122"/>
                <a:cs typeface="Calibri" pitchFamily="34" charset="-120"/>
              </a:rPr>
              <a:t>Impact: </a:t>
            </a:r>
            <a:r>
              <a:rPr lang="en-US" sz="850" dirty="0">
                <a:solidFill>
                  <a:srgbClr val="262626"/>
                </a:solidFill>
                <a:latin typeface="Calibri" pitchFamily="34" charset="0"/>
                <a:ea typeface="Calibri" pitchFamily="34" charset="-122"/>
                <a:cs typeface="Calibri" pitchFamily="34" charset="-120"/>
              </a:rPr>
              <a:t>Fixed 50-agent capacity will fall further behind demand, risking SLA breaches.  </a:t>
            </a:r>
            <a:r>
              <a:rPr lang="en-US" sz="850" b="1" dirty="0">
                <a:solidFill>
                  <a:srgbClr val="7A3406"/>
                </a:solidFill>
                <a:latin typeface="Calibri" pitchFamily="34" charset="0"/>
                <a:ea typeface="Calibri" pitchFamily="34" charset="-122"/>
                <a:cs typeface="Calibri" pitchFamily="34" charset="-120"/>
              </a:rPr>
              <a:t>Action: </a:t>
            </a:r>
            <a:r>
              <a:rPr lang="en-US" sz="850" dirty="0">
                <a:solidFill>
                  <a:srgbClr val="262626"/>
                </a:solidFill>
                <a:latin typeface="Calibri" pitchFamily="34" charset="0"/>
                <a:ea typeface="Calibri" pitchFamily="34" charset="-122"/>
                <a:cs typeface="Calibri" pitchFamily="34" charset="-120"/>
              </a:rPr>
              <a:t>Build a capacity plan (hiring, automation, self-service) sized to the accelerating growth rate, not the historical average.</a:t>
            </a:r>
            <a:endParaRPr lang="en-US" sz="850" dirty="0"/>
          </a:p>
        </p:txBody>
      </p:sp>
      <p:sp>
        <p:nvSpPr>
          <p:cNvPr id="10" name="Shape 8"/>
          <p:cNvSpPr/>
          <p:nvPr/>
        </p:nvSpPr>
        <p:spPr>
          <a:xfrm>
            <a:off x="548640" y="2697480"/>
            <a:ext cx="5440680" cy="1188720"/>
          </a:xfrm>
          <a:prstGeom prst="roundRect">
            <a:avLst>
              <a:gd name="adj" fmla="val 4231"/>
            </a:avLst>
          </a:prstGeom>
          <a:solidFill>
            <a:srgbClr val="FCFAF7"/>
          </a:solidFill>
          <a:ln w="12700">
            <a:solidFill>
              <a:srgbClr val="EEE1D2"/>
            </a:solidFill>
            <a:prstDash val="solid"/>
          </a:ln>
        </p:spPr>
      </p:sp>
      <p:sp>
        <p:nvSpPr>
          <p:cNvPr id="11" name="Shape 9"/>
          <p:cNvSpPr/>
          <p:nvPr/>
        </p:nvSpPr>
        <p:spPr>
          <a:xfrm>
            <a:off x="694944" y="2834640"/>
            <a:ext cx="292608" cy="292608"/>
          </a:xfrm>
          <a:prstGeom prst="ellipse">
            <a:avLst/>
          </a:prstGeom>
          <a:solidFill>
            <a:srgbClr val="C1560C"/>
          </a:solidFill>
          <a:ln/>
        </p:spPr>
      </p:sp>
      <p:sp>
        <p:nvSpPr>
          <p:cNvPr id="12" name="Text 10"/>
          <p:cNvSpPr/>
          <p:nvPr/>
        </p:nvSpPr>
        <p:spPr>
          <a:xfrm>
            <a:off x="694944" y="2834640"/>
            <a:ext cx="292608" cy="292608"/>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078992" y="2825496"/>
            <a:ext cx="4754880" cy="292608"/>
          </a:xfrm>
          <a:prstGeom prst="rect">
            <a:avLst/>
          </a:prstGeom>
          <a:noFill/>
          <a:ln/>
        </p:spPr>
        <p:txBody>
          <a:bodyPr wrap="square" rtlCol="0" anchor="ctr"/>
          <a:lstStyle/>
          <a:p>
            <a:pPr marL="0" indent="0">
              <a:buNone/>
            </a:pPr>
            <a:r>
              <a:rPr lang="en-US" sz="1250" b="1" dirty="0">
                <a:solidFill>
                  <a:srgbClr val="7A3406"/>
                </a:solidFill>
                <a:latin typeface="Cambria" pitchFamily="34" charset="0"/>
                <a:ea typeface="Cambria" pitchFamily="34" charset="-122"/>
                <a:cs typeface="Cambria" pitchFamily="34" charset="-120"/>
              </a:rPr>
              <a:t>Operational Efficiency</a:t>
            </a:r>
            <a:endParaRPr lang="en-US" sz="1250" dirty="0"/>
          </a:p>
        </p:txBody>
      </p:sp>
      <p:sp>
        <p:nvSpPr>
          <p:cNvPr id="14" name="Text 12"/>
          <p:cNvSpPr/>
          <p:nvPr/>
        </p:nvSpPr>
        <p:spPr>
          <a:xfrm>
            <a:off x="731520" y="3154680"/>
            <a:ext cx="5074920" cy="640080"/>
          </a:xfrm>
          <a:prstGeom prst="rect">
            <a:avLst/>
          </a:prstGeom>
          <a:noFill/>
          <a:ln/>
        </p:spPr>
        <p:txBody>
          <a:bodyPr wrap="square" rtlCol="0" anchor="t"/>
          <a:lstStyle/>
          <a:p>
            <a:pPr marL="0" indent="0">
              <a:lnSpc>
                <a:spcPct val="102000"/>
              </a:lnSpc>
              <a:buNone/>
            </a:pPr>
            <a:r>
              <a:rPr lang="en-US" sz="850" b="1" dirty="0">
                <a:solidFill>
                  <a:srgbClr val="262626"/>
                </a:solidFill>
                <a:latin typeface="Calibri" pitchFamily="34" charset="0"/>
                <a:ea typeface="Calibri" pitchFamily="34" charset="-122"/>
                <a:cs typeface="Calibri" pitchFamily="34" charset="-120"/>
              </a:rPr>
              <a:t>Observation: </a:t>
            </a:r>
            <a:r>
              <a:rPr lang="en-US" sz="850" dirty="0">
                <a:solidFill>
                  <a:srgbClr val="262626"/>
                </a:solidFill>
                <a:latin typeface="Calibri" pitchFamily="34" charset="0"/>
                <a:ea typeface="Calibri" pitchFamily="34" charset="-122"/>
                <a:cs typeface="Calibri" pitchFamily="34" charset="-120"/>
              </a:rPr>
              <a:t>System tickets are both the highest-volume category (40%) and the 2nd-slowest to resolve (6.62 days).  </a:t>
            </a:r>
            <a:r>
              <a:rPr lang="en-US" sz="850" b="1" dirty="0">
                <a:solidFill>
                  <a:srgbClr val="262626"/>
                </a:solidFill>
                <a:latin typeface="Calibri" pitchFamily="34" charset="0"/>
                <a:ea typeface="Calibri" pitchFamily="34" charset="-122"/>
                <a:cs typeface="Calibri" pitchFamily="34" charset="-120"/>
              </a:rPr>
              <a:t>Impact: </a:t>
            </a:r>
            <a:r>
              <a:rPr lang="en-US" sz="850" dirty="0">
                <a:solidFill>
                  <a:srgbClr val="262626"/>
                </a:solidFill>
                <a:latin typeface="Calibri" pitchFamily="34" charset="0"/>
                <a:ea typeface="Calibri" pitchFamily="34" charset="-122"/>
                <a:cs typeface="Calibri" pitchFamily="34" charset="-120"/>
              </a:rPr>
              <a:t>This single category drives a disproportionate share of total resolution effort.  </a:t>
            </a:r>
            <a:r>
              <a:rPr lang="en-US" sz="850" b="1" dirty="0">
                <a:solidFill>
                  <a:srgbClr val="7A3406"/>
                </a:solidFill>
                <a:latin typeface="Calibri" pitchFamily="34" charset="0"/>
                <a:ea typeface="Calibri" pitchFamily="34" charset="-122"/>
                <a:cs typeface="Calibri" pitchFamily="34" charset="-120"/>
              </a:rPr>
              <a:t>Action: </a:t>
            </a:r>
            <a:r>
              <a:rPr lang="en-US" sz="850" dirty="0">
                <a:solidFill>
                  <a:srgbClr val="262626"/>
                </a:solidFill>
                <a:latin typeface="Calibri" pitchFamily="34" charset="0"/>
                <a:ea typeface="Calibri" pitchFamily="34" charset="-122"/>
                <a:cs typeface="Calibri" pitchFamily="34" charset="-120"/>
              </a:rPr>
              <a:t>Prioritize root-cause reduction and self-service deflection specifically for System tickets.</a:t>
            </a:r>
            <a:endParaRPr lang="en-US" sz="850" dirty="0"/>
          </a:p>
        </p:txBody>
      </p:sp>
      <p:sp>
        <p:nvSpPr>
          <p:cNvPr id="15" name="Shape 13"/>
          <p:cNvSpPr/>
          <p:nvPr/>
        </p:nvSpPr>
        <p:spPr>
          <a:xfrm>
            <a:off x="548640" y="3977640"/>
            <a:ext cx="5440680" cy="1188720"/>
          </a:xfrm>
          <a:prstGeom prst="roundRect">
            <a:avLst>
              <a:gd name="adj" fmla="val 4231"/>
            </a:avLst>
          </a:prstGeom>
          <a:solidFill>
            <a:srgbClr val="FCFAF7"/>
          </a:solidFill>
          <a:ln w="12700">
            <a:solidFill>
              <a:srgbClr val="EEE1D2"/>
            </a:solidFill>
            <a:prstDash val="solid"/>
          </a:ln>
        </p:spPr>
      </p:sp>
      <p:sp>
        <p:nvSpPr>
          <p:cNvPr id="16" name="Shape 14"/>
          <p:cNvSpPr/>
          <p:nvPr/>
        </p:nvSpPr>
        <p:spPr>
          <a:xfrm>
            <a:off x="694944" y="4114800"/>
            <a:ext cx="292608" cy="292608"/>
          </a:xfrm>
          <a:prstGeom prst="ellipse">
            <a:avLst/>
          </a:prstGeom>
          <a:solidFill>
            <a:srgbClr val="C1560C"/>
          </a:solidFill>
          <a:ln/>
        </p:spPr>
      </p:sp>
      <p:sp>
        <p:nvSpPr>
          <p:cNvPr id="17" name="Text 15"/>
          <p:cNvSpPr/>
          <p:nvPr/>
        </p:nvSpPr>
        <p:spPr>
          <a:xfrm>
            <a:off x="694944" y="4114800"/>
            <a:ext cx="292608" cy="292608"/>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1078992" y="4105656"/>
            <a:ext cx="4754880" cy="292608"/>
          </a:xfrm>
          <a:prstGeom prst="rect">
            <a:avLst/>
          </a:prstGeom>
          <a:noFill/>
          <a:ln/>
        </p:spPr>
        <p:txBody>
          <a:bodyPr wrap="square" rtlCol="0" anchor="ctr"/>
          <a:lstStyle/>
          <a:p>
            <a:pPr marL="0" indent="0">
              <a:buNone/>
            </a:pPr>
            <a:r>
              <a:rPr lang="en-US" sz="1250" b="1" dirty="0">
                <a:solidFill>
                  <a:srgbClr val="7A3406"/>
                </a:solidFill>
                <a:latin typeface="Cambria" pitchFamily="34" charset="0"/>
                <a:ea typeface="Cambria" pitchFamily="34" charset="-122"/>
                <a:cs typeface="Cambria" pitchFamily="34" charset="-120"/>
              </a:rPr>
              <a:t>SLA / Resolution Improvement</a:t>
            </a:r>
            <a:endParaRPr lang="en-US" sz="1250" dirty="0"/>
          </a:p>
        </p:txBody>
      </p:sp>
      <p:sp>
        <p:nvSpPr>
          <p:cNvPr id="19" name="Text 17"/>
          <p:cNvSpPr/>
          <p:nvPr/>
        </p:nvSpPr>
        <p:spPr>
          <a:xfrm>
            <a:off x="731520" y="4434840"/>
            <a:ext cx="5074920" cy="640080"/>
          </a:xfrm>
          <a:prstGeom prst="rect">
            <a:avLst/>
          </a:prstGeom>
          <a:noFill/>
          <a:ln/>
        </p:spPr>
        <p:txBody>
          <a:bodyPr wrap="square" rtlCol="0" anchor="t"/>
          <a:lstStyle/>
          <a:p>
            <a:pPr marL="0" indent="0">
              <a:lnSpc>
                <a:spcPct val="102000"/>
              </a:lnSpc>
              <a:buNone/>
            </a:pPr>
            <a:r>
              <a:rPr lang="en-US" sz="850" b="1" dirty="0">
                <a:solidFill>
                  <a:srgbClr val="262626"/>
                </a:solidFill>
                <a:latin typeface="Calibri" pitchFamily="34" charset="0"/>
                <a:ea typeface="Calibri" pitchFamily="34" charset="-122"/>
                <a:cs typeface="Calibri" pitchFamily="34" charset="-120"/>
              </a:rPr>
              <a:t>Observation: </a:t>
            </a:r>
            <a:r>
              <a:rPr lang="en-US" sz="850" dirty="0">
                <a:solidFill>
                  <a:srgbClr val="262626"/>
                </a:solidFill>
                <a:latin typeface="Calibri" pitchFamily="34" charset="0"/>
                <a:ea typeface="Calibri" pitchFamily="34" charset="-122"/>
                <a:cs typeface="Calibri" pitchFamily="34" charset="-120"/>
              </a:rPr>
              <a:t>Hardware tickets take 7.63 days to resolve on average — ~25× longer than Login Access (0.31 days).  </a:t>
            </a:r>
            <a:r>
              <a:rPr lang="en-US" sz="850" b="1" dirty="0">
                <a:solidFill>
                  <a:srgbClr val="262626"/>
                </a:solidFill>
                <a:latin typeface="Calibri" pitchFamily="34" charset="0"/>
                <a:ea typeface="Calibri" pitchFamily="34" charset="-122"/>
                <a:cs typeface="Calibri" pitchFamily="34" charset="-120"/>
              </a:rPr>
              <a:t>Impact: </a:t>
            </a:r>
            <a:r>
              <a:rPr lang="en-US" sz="850" dirty="0">
                <a:solidFill>
                  <a:srgbClr val="262626"/>
                </a:solidFill>
                <a:latin typeface="Calibri" pitchFamily="34" charset="0"/>
                <a:ea typeface="Calibri" pitchFamily="34" charset="-122"/>
                <a:cs typeface="Calibri" pitchFamily="34" charset="-120"/>
              </a:rPr>
              <a:t>Hardware resolution time is the single largest drag on overall average turnaround.  </a:t>
            </a:r>
            <a:r>
              <a:rPr lang="en-US" sz="850" b="1" dirty="0">
                <a:solidFill>
                  <a:srgbClr val="7A3406"/>
                </a:solidFill>
                <a:latin typeface="Calibri" pitchFamily="34" charset="0"/>
                <a:ea typeface="Calibri" pitchFamily="34" charset="-122"/>
                <a:cs typeface="Calibri" pitchFamily="34" charset="-120"/>
              </a:rPr>
              <a:t>Action: </a:t>
            </a:r>
            <a:r>
              <a:rPr lang="en-US" sz="850" dirty="0">
                <a:solidFill>
                  <a:srgbClr val="262626"/>
                </a:solidFill>
                <a:latin typeface="Calibri" pitchFamily="34" charset="0"/>
                <a:ea typeface="Calibri" pitchFamily="34" charset="-122"/>
                <a:cs typeface="Calibri" pitchFamily="34" charset="-120"/>
              </a:rPr>
              <a:t>Pre-stock common spare parts and set a dedicated Hardware SLA track distinct from software/access issues.</a:t>
            </a:r>
            <a:endParaRPr lang="en-US" sz="850" dirty="0"/>
          </a:p>
        </p:txBody>
      </p:sp>
      <p:sp>
        <p:nvSpPr>
          <p:cNvPr id="20" name="Shape 18"/>
          <p:cNvSpPr/>
          <p:nvPr/>
        </p:nvSpPr>
        <p:spPr>
          <a:xfrm>
            <a:off x="548640" y="5257800"/>
            <a:ext cx="5440680" cy="1188720"/>
          </a:xfrm>
          <a:prstGeom prst="roundRect">
            <a:avLst>
              <a:gd name="adj" fmla="val 4231"/>
            </a:avLst>
          </a:prstGeom>
          <a:solidFill>
            <a:srgbClr val="FCFAF7"/>
          </a:solidFill>
          <a:ln w="12700">
            <a:solidFill>
              <a:srgbClr val="EEE1D2"/>
            </a:solidFill>
            <a:prstDash val="solid"/>
          </a:ln>
        </p:spPr>
      </p:sp>
      <p:sp>
        <p:nvSpPr>
          <p:cNvPr id="21" name="Shape 19"/>
          <p:cNvSpPr/>
          <p:nvPr/>
        </p:nvSpPr>
        <p:spPr>
          <a:xfrm>
            <a:off x="694944" y="5394960"/>
            <a:ext cx="292608" cy="292608"/>
          </a:xfrm>
          <a:prstGeom prst="ellipse">
            <a:avLst/>
          </a:prstGeom>
          <a:solidFill>
            <a:srgbClr val="C1560C"/>
          </a:solidFill>
          <a:ln/>
        </p:spPr>
      </p:sp>
      <p:sp>
        <p:nvSpPr>
          <p:cNvPr id="22" name="Text 20"/>
          <p:cNvSpPr/>
          <p:nvPr/>
        </p:nvSpPr>
        <p:spPr>
          <a:xfrm>
            <a:off x="694944" y="5394960"/>
            <a:ext cx="292608" cy="292608"/>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p:nvPr/>
        </p:nvSpPr>
        <p:spPr>
          <a:xfrm>
            <a:off x="1078992" y="5385816"/>
            <a:ext cx="4754880" cy="292608"/>
          </a:xfrm>
          <a:prstGeom prst="rect">
            <a:avLst/>
          </a:prstGeom>
          <a:noFill/>
          <a:ln/>
        </p:spPr>
        <p:txBody>
          <a:bodyPr wrap="square" rtlCol="0" anchor="ctr"/>
          <a:lstStyle/>
          <a:p>
            <a:pPr marL="0" indent="0">
              <a:buNone/>
            </a:pPr>
            <a:r>
              <a:rPr lang="en-US" sz="1250" b="1" dirty="0">
                <a:solidFill>
                  <a:srgbClr val="7A3406"/>
                </a:solidFill>
                <a:latin typeface="Cambria" pitchFamily="34" charset="0"/>
                <a:ea typeface="Cambria" pitchFamily="34" charset="-122"/>
                <a:cs typeface="Cambria" pitchFamily="34" charset="-120"/>
              </a:rPr>
              <a:t>Ticket Management</a:t>
            </a:r>
            <a:endParaRPr lang="en-US" sz="1250" dirty="0"/>
          </a:p>
        </p:txBody>
      </p:sp>
      <p:sp>
        <p:nvSpPr>
          <p:cNvPr id="24" name="Text 22"/>
          <p:cNvSpPr/>
          <p:nvPr/>
        </p:nvSpPr>
        <p:spPr>
          <a:xfrm>
            <a:off x="731520" y="5715000"/>
            <a:ext cx="5074920" cy="640080"/>
          </a:xfrm>
          <a:prstGeom prst="rect">
            <a:avLst/>
          </a:prstGeom>
          <a:noFill/>
          <a:ln/>
        </p:spPr>
        <p:txBody>
          <a:bodyPr wrap="square" rtlCol="0" anchor="t"/>
          <a:lstStyle/>
          <a:p>
            <a:pPr marL="0" indent="0">
              <a:lnSpc>
                <a:spcPct val="102000"/>
              </a:lnSpc>
              <a:buNone/>
            </a:pPr>
            <a:r>
              <a:rPr lang="en-US" sz="850" b="1" dirty="0">
                <a:solidFill>
                  <a:srgbClr val="262626"/>
                </a:solidFill>
                <a:latin typeface="Calibri" pitchFamily="34" charset="0"/>
                <a:ea typeface="Calibri" pitchFamily="34" charset="-122"/>
                <a:cs typeface="Calibri" pitchFamily="34" charset="-120"/>
              </a:rPr>
              <a:t>Observation: </a:t>
            </a:r>
            <a:r>
              <a:rPr lang="en-US" sz="850" dirty="0">
                <a:solidFill>
                  <a:srgbClr val="262626"/>
                </a:solidFill>
                <a:latin typeface="Calibri" pitchFamily="34" charset="0"/>
                <a:ea typeface="Calibri" pitchFamily="34" charset="-122"/>
                <a:cs typeface="Calibri" pitchFamily="34" charset="-120"/>
              </a:rPr>
              <a:t>30% of tickets have no priority assigned and 91% share a single “Normal” severity tag.  </a:t>
            </a:r>
            <a:r>
              <a:rPr lang="en-US" sz="850" b="1" dirty="0">
                <a:solidFill>
                  <a:srgbClr val="262626"/>
                </a:solidFill>
                <a:latin typeface="Calibri" pitchFamily="34" charset="0"/>
                <a:ea typeface="Calibri" pitchFamily="34" charset="-122"/>
                <a:cs typeface="Calibri" pitchFamily="34" charset="-120"/>
              </a:rPr>
              <a:t>Impact: </a:t>
            </a:r>
            <a:r>
              <a:rPr lang="en-US" sz="850" dirty="0">
                <a:solidFill>
                  <a:srgbClr val="262626"/>
                </a:solidFill>
                <a:latin typeface="Calibri" pitchFamily="34" charset="0"/>
                <a:ea typeface="Calibri" pitchFamily="34" charset="-122"/>
                <a:cs typeface="Calibri" pitchFamily="34" charset="-120"/>
              </a:rPr>
              <a:t>True urgency is not distinguishable in the queue, risking delayed response to real emergencies.  </a:t>
            </a:r>
            <a:r>
              <a:rPr lang="en-US" sz="850" b="1" dirty="0">
                <a:solidFill>
                  <a:srgbClr val="7A3406"/>
                </a:solidFill>
                <a:latin typeface="Calibri" pitchFamily="34" charset="0"/>
                <a:ea typeface="Calibri" pitchFamily="34" charset="-122"/>
                <a:cs typeface="Calibri" pitchFamily="34" charset="-120"/>
              </a:rPr>
              <a:t>Action: </a:t>
            </a:r>
            <a:r>
              <a:rPr lang="en-US" sz="850" dirty="0">
                <a:solidFill>
                  <a:srgbClr val="262626"/>
                </a:solidFill>
                <a:latin typeface="Calibri" pitchFamily="34" charset="0"/>
                <a:ea typeface="Calibri" pitchFamily="34" charset="-122"/>
                <a:cs typeface="Calibri" pitchFamily="34" charset="-120"/>
              </a:rPr>
              <a:t>Make priority and severity mandatory fields at intake, enforced by the ticketing system.</a:t>
            </a:r>
            <a:endParaRPr lang="en-US" sz="850" dirty="0"/>
          </a:p>
        </p:txBody>
      </p:sp>
      <p:sp>
        <p:nvSpPr>
          <p:cNvPr id="25" name="Shape 23"/>
          <p:cNvSpPr/>
          <p:nvPr/>
        </p:nvSpPr>
        <p:spPr>
          <a:xfrm>
            <a:off x="6263640" y="1417320"/>
            <a:ext cx="5440680" cy="1188720"/>
          </a:xfrm>
          <a:prstGeom prst="roundRect">
            <a:avLst>
              <a:gd name="adj" fmla="val 4231"/>
            </a:avLst>
          </a:prstGeom>
          <a:solidFill>
            <a:srgbClr val="FCFAF7"/>
          </a:solidFill>
          <a:ln w="12700">
            <a:solidFill>
              <a:srgbClr val="EEE1D2"/>
            </a:solidFill>
            <a:prstDash val="solid"/>
          </a:ln>
        </p:spPr>
      </p:sp>
      <p:sp>
        <p:nvSpPr>
          <p:cNvPr id="26" name="Shape 24"/>
          <p:cNvSpPr/>
          <p:nvPr/>
        </p:nvSpPr>
        <p:spPr>
          <a:xfrm>
            <a:off x="6409944" y="1554480"/>
            <a:ext cx="292608" cy="292608"/>
          </a:xfrm>
          <a:prstGeom prst="ellipse">
            <a:avLst/>
          </a:prstGeom>
          <a:solidFill>
            <a:srgbClr val="C1560C"/>
          </a:solidFill>
          <a:ln/>
        </p:spPr>
      </p:sp>
      <p:sp>
        <p:nvSpPr>
          <p:cNvPr id="27" name="Text 25"/>
          <p:cNvSpPr/>
          <p:nvPr/>
        </p:nvSpPr>
        <p:spPr>
          <a:xfrm>
            <a:off x="6409944" y="1554480"/>
            <a:ext cx="292608" cy="292608"/>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p:nvPr/>
        </p:nvSpPr>
        <p:spPr>
          <a:xfrm>
            <a:off x="6793992" y="1545336"/>
            <a:ext cx="4754880" cy="292608"/>
          </a:xfrm>
          <a:prstGeom prst="rect">
            <a:avLst/>
          </a:prstGeom>
          <a:noFill/>
          <a:ln/>
        </p:spPr>
        <p:txBody>
          <a:bodyPr wrap="square" rtlCol="0" anchor="ctr"/>
          <a:lstStyle/>
          <a:p>
            <a:pPr marL="0" indent="0">
              <a:buNone/>
            </a:pPr>
            <a:r>
              <a:rPr lang="en-US" sz="1250" b="1" dirty="0">
                <a:solidFill>
                  <a:srgbClr val="7A3406"/>
                </a:solidFill>
                <a:latin typeface="Cambria" pitchFamily="34" charset="0"/>
                <a:ea typeface="Cambria" pitchFamily="34" charset="-122"/>
                <a:cs typeface="Cambria" pitchFamily="34" charset="-120"/>
              </a:rPr>
              <a:t>Agent Performance</a:t>
            </a:r>
            <a:endParaRPr lang="en-US" sz="1250" dirty="0"/>
          </a:p>
        </p:txBody>
      </p:sp>
      <p:sp>
        <p:nvSpPr>
          <p:cNvPr id="29" name="Text 27"/>
          <p:cNvSpPr/>
          <p:nvPr/>
        </p:nvSpPr>
        <p:spPr>
          <a:xfrm>
            <a:off x="6446520" y="1874520"/>
            <a:ext cx="5074920" cy="640080"/>
          </a:xfrm>
          <a:prstGeom prst="rect">
            <a:avLst/>
          </a:prstGeom>
          <a:noFill/>
          <a:ln/>
        </p:spPr>
        <p:txBody>
          <a:bodyPr wrap="square" rtlCol="0" anchor="t"/>
          <a:lstStyle/>
          <a:p>
            <a:pPr marL="0" indent="0">
              <a:lnSpc>
                <a:spcPct val="102000"/>
              </a:lnSpc>
              <a:buNone/>
            </a:pPr>
            <a:r>
              <a:rPr lang="en-US" sz="850" b="1" dirty="0">
                <a:solidFill>
                  <a:srgbClr val="262626"/>
                </a:solidFill>
                <a:latin typeface="Calibri" pitchFamily="34" charset="0"/>
                <a:ea typeface="Calibri" pitchFamily="34" charset="-122"/>
                <a:cs typeface="Calibri" pitchFamily="34" charset="-120"/>
              </a:rPr>
              <a:t>Observation: </a:t>
            </a:r>
            <a:r>
              <a:rPr lang="en-US" sz="850" dirty="0">
                <a:solidFill>
                  <a:srgbClr val="262626"/>
                </a:solidFill>
                <a:latin typeface="Calibri" pitchFamily="34" charset="0"/>
                <a:ea typeface="Calibri" pitchFamily="34" charset="-122"/>
                <a:cs typeface="Calibri" pitchFamily="34" charset="-120"/>
              </a:rPr>
              <a:t>Satisfaction varies by agent age band: 34-38 lags at 3.96 vs. 4.39 for the 54-58 band.  </a:t>
            </a:r>
            <a:r>
              <a:rPr lang="en-US" sz="850" b="1" dirty="0">
                <a:solidFill>
                  <a:srgbClr val="262626"/>
                </a:solidFill>
                <a:latin typeface="Calibri" pitchFamily="34" charset="0"/>
                <a:ea typeface="Calibri" pitchFamily="34" charset="-122"/>
                <a:cs typeface="Calibri" pitchFamily="34" charset="-120"/>
              </a:rPr>
              <a:t>Impact: </a:t>
            </a:r>
            <a:r>
              <a:rPr lang="en-US" sz="850" dirty="0">
                <a:solidFill>
                  <a:srgbClr val="262626"/>
                </a:solidFill>
                <a:latin typeface="Calibri" pitchFamily="34" charset="0"/>
                <a:ea typeface="Calibri" pitchFamily="34" charset="-122"/>
                <a:cs typeface="Calibri" pitchFamily="34" charset="-120"/>
              </a:rPr>
              <a:t>Uneven service quality across agent segments affects the overall employee experience.  </a:t>
            </a:r>
            <a:r>
              <a:rPr lang="en-US" sz="850" b="1" dirty="0">
                <a:solidFill>
                  <a:srgbClr val="7A3406"/>
                </a:solidFill>
                <a:latin typeface="Calibri" pitchFamily="34" charset="0"/>
                <a:ea typeface="Calibri" pitchFamily="34" charset="-122"/>
                <a:cs typeface="Calibri" pitchFamily="34" charset="-120"/>
              </a:rPr>
              <a:t>Action: </a:t>
            </a:r>
            <a:r>
              <a:rPr lang="en-US" sz="850" dirty="0">
                <a:solidFill>
                  <a:srgbClr val="262626"/>
                </a:solidFill>
                <a:latin typeface="Calibri" pitchFamily="34" charset="0"/>
                <a:ea typeface="Calibri" pitchFamily="34" charset="-122"/>
                <a:cs typeface="Calibri" pitchFamily="34" charset="-120"/>
              </a:rPr>
              <a:t>Pair the 34-38 agent segment with senior mentors and review their ticket mix and coaching needs.</a:t>
            </a:r>
            <a:endParaRPr lang="en-US" sz="850" dirty="0"/>
          </a:p>
        </p:txBody>
      </p:sp>
      <p:sp>
        <p:nvSpPr>
          <p:cNvPr id="30" name="Shape 28"/>
          <p:cNvSpPr/>
          <p:nvPr/>
        </p:nvSpPr>
        <p:spPr>
          <a:xfrm>
            <a:off x="6263640" y="2697480"/>
            <a:ext cx="5440680" cy="1188720"/>
          </a:xfrm>
          <a:prstGeom prst="roundRect">
            <a:avLst>
              <a:gd name="adj" fmla="val 4231"/>
            </a:avLst>
          </a:prstGeom>
          <a:solidFill>
            <a:srgbClr val="FCFAF7"/>
          </a:solidFill>
          <a:ln w="12700">
            <a:solidFill>
              <a:srgbClr val="EEE1D2"/>
            </a:solidFill>
            <a:prstDash val="solid"/>
          </a:ln>
        </p:spPr>
      </p:sp>
      <p:sp>
        <p:nvSpPr>
          <p:cNvPr id="31" name="Shape 29"/>
          <p:cNvSpPr/>
          <p:nvPr/>
        </p:nvSpPr>
        <p:spPr>
          <a:xfrm>
            <a:off x="6409944" y="2834640"/>
            <a:ext cx="292608" cy="292608"/>
          </a:xfrm>
          <a:prstGeom prst="ellipse">
            <a:avLst/>
          </a:prstGeom>
          <a:solidFill>
            <a:srgbClr val="C1560C"/>
          </a:solidFill>
          <a:ln/>
        </p:spPr>
      </p:sp>
      <p:sp>
        <p:nvSpPr>
          <p:cNvPr id="32" name="Text 30"/>
          <p:cNvSpPr/>
          <p:nvPr/>
        </p:nvSpPr>
        <p:spPr>
          <a:xfrm>
            <a:off x="6409944" y="2834640"/>
            <a:ext cx="292608" cy="292608"/>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3" name="Text 31"/>
          <p:cNvSpPr/>
          <p:nvPr/>
        </p:nvSpPr>
        <p:spPr>
          <a:xfrm>
            <a:off x="6793992" y="2825496"/>
            <a:ext cx="4754880" cy="292608"/>
          </a:xfrm>
          <a:prstGeom prst="rect">
            <a:avLst/>
          </a:prstGeom>
          <a:noFill/>
          <a:ln/>
        </p:spPr>
        <p:txBody>
          <a:bodyPr wrap="square" rtlCol="0" anchor="ctr"/>
          <a:lstStyle/>
          <a:p>
            <a:pPr marL="0" indent="0">
              <a:buNone/>
            </a:pPr>
            <a:r>
              <a:rPr lang="en-US" sz="1250" b="1" dirty="0">
                <a:solidFill>
                  <a:srgbClr val="7A3406"/>
                </a:solidFill>
                <a:latin typeface="Cambria" pitchFamily="34" charset="0"/>
                <a:ea typeface="Cambria" pitchFamily="34" charset="-122"/>
                <a:cs typeface="Cambria" pitchFamily="34" charset="-120"/>
              </a:rPr>
              <a:t>Management Monitoring</a:t>
            </a:r>
            <a:endParaRPr lang="en-US" sz="1250" dirty="0"/>
          </a:p>
        </p:txBody>
      </p:sp>
      <p:sp>
        <p:nvSpPr>
          <p:cNvPr id="34" name="Text 32"/>
          <p:cNvSpPr/>
          <p:nvPr/>
        </p:nvSpPr>
        <p:spPr>
          <a:xfrm>
            <a:off x="6446520" y="3154680"/>
            <a:ext cx="5074920" cy="640080"/>
          </a:xfrm>
          <a:prstGeom prst="rect">
            <a:avLst/>
          </a:prstGeom>
          <a:noFill/>
          <a:ln/>
        </p:spPr>
        <p:txBody>
          <a:bodyPr wrap="square" rtlCol="0" anchor="t"/>
          <a:lstStyle/>
          <a:p>
            <a:pPr marL="0" indent="0">
              <a:lnSpc>
                <a:spcPct val="102000"/>
              </a:lnSpc>
              <a:buNone/>
            </a:pPr>
            <a:r>
              <a:rPr lang="en-US" sz="850" b="1" dirty="0">
                <a:solidFill>
                  <a:srgbClr val="262626"/>
                </a:solidFill>
                <a:latin typeface="Calibri" pitchFamily="34" charset="0"/>
                <a:ea typeface="Calibri" pitchFamily="34" charset="-122"/>
                <a:cs typeface="Calibri" pitchFamily="34" charset="-120"/>
              </a:rPr>
              <a:t>Observation: </a:t>
            </a:r>
            <a:r>
              <a:rPr lang="en-US" sz="850" dirty="0">
                <a:solidFill>
                  <a:srgbClr val="262626"/>
                </a:solidFill>
                <a:latin typeface="Calibri" pitchFamily="34" charset="0"/>
                <a:ea typeface="Calibri" pitchFamily="34" charset="-122"/>
                <a:cs typeface="Calibri" pitchFamily="34" charset="-120"/>
              </a:rPr>
              <a:t>Satisfaction has risen every year since 2016 (3.98 → 4.16), projected to reach ~4.25 by 2022.  </a:t>
            </a:r>
            <a:r>
              <a:rPr lang="en-US" sz="850" b="1" dirty="0">
                <a:solidFill>
                  <a:srgbClr val="262626"/>
                </a:solidFill>
                <a:latin typeface="Calibri" pitchFamily="34" charset="0"/>
                <a:ea typeface="Calibri" pitchFamily="34" charset="-122"/>
                <a:cs typeface="Calibri" pitchFamily="34" charset="-120"/>
              </a:rPr>
              <a:t>Impact: </a:t>
            </a:r>
            <a:r>
              <a:rPr lang="en-US" sz="850" dirty="0">
                <a:solidFill>
                  <a:srgbClr val="262626"/>
                </a:solidFill>
                <a:latin typeface="Calibri" pitchFamily="34" charset="0"/>
                <a:ea typeface="Calibri" pitchFamily="34" charset="-122"/>
                <a:cs typeface="Calibri" pitchFamily="34" charset="-120"/>
              </a:rPr>
              <a:t>The gains are real but currently undocumented as to root cause.  </a:t>
            </a:r>
            <a:r>
              <a:rPr lang="en-US" sz="850" b="1" dirty="0">
                <a:solidFill>
                  <a:srgbClr val="7A3406"/>
                </a:solidFill>
                <a:latin typeface="Calibri" pitchFamily="34" charset="0"/>
                <a:ea typeface="Calibri" pitchFamily="34" charset="-122"/>
                <a:cs typeface="Calibri" pitchFamily="34" charset="-120"/>
              </a:rPr>
              <a:t>Action: </a:t>
            </a:r>
            <a:r>
              <a:rPr lang="en-US" sz="850" dirty="0">
                <a:solidFill>
                  <a:srgbClr val="262626"/>
                </a:solidFill>
                <a:latin typeface="Calibri" pitchFamily="34" charset="0"/>
                <a:ea typeface="Calibri" pitchFamily="34" charset="-122"/>
                <a:cs typeface="Calibri" pitchFamily="34" charset="-120"/>
              </a:rPr>
              <a:t>Formally track and document the process changes behind each year’s gain to protect the projected trend.</a:t>
            </a:r>
            <a:endParaRPr lang="en-US" sz="850" dirty="0"/>
          </a:p>
        </p:txBody>
      </p:sp>
      <p:sp>
        <p:nvSpPr>
          <p:cNvPr id="35" name="Shape 33"/>
          <p:cNvSpPr/>
          <p:nvPr/>
        </p:nvSpPr>
        <p:spPr>
          <a:xfrm>
            <a:off x="6263640" y="3977640"/>
            <a:ext cx="5440680" cy="1188720"/>
          </a:xfrm>
          <a:prstGeom prst="roundRect">
            <a:avLst>
              <a:gd name="adj" fmla="val 4231"/>
            </a:avLst>
          </a:prstGeom>
          <a:solidFill>
            <a:srgbClr val="FCFAF7"/>
          </a:solidFill>
          <a:ln w="12700">
            <a:solidFill>
              <a:srgbClr val="EEE1D2"/>
            </a:solidFill>
            <a:prstDash val="solid"/>
          </a:ln>
        </p:spPr>
      </p:sp>
      <p:sp>
        <p:nvSpPr>
          <p:cNvPr id="36" name="Shape 34"/>
          <p:cNvSpPr/>
          <p:nvPr/>
        </p:nvSpPr>
        <p:spPr>
          <a:xfrm>
            <a:off x="6409944" y="4114800"/>
            <a:ext cx="292608" cy="292608"/>
          </a:xfrm>
          <a:prstGeom prst="ellipse">
            <a:avLst/>
          </a:prstGeom>
          <a:solidFill>
            <a:srgbClr val="C1560C"/>
          </a:solidFill>
          <a:ln/>
        </p:spPr>
      </p:sp>
      <p:sp>
        <p:nvSpPr>
          <p:cNvPr id="37" name="Text 35"/>
          <p:cNvSpPr/>
          <p:nvPr/>
        </p:nvSpPr>
        <p:spPr>
          <a:xfrm>
            <a:off x="6409944" y="4114800"/>
            <a:ext cx="292608" cy="292608"/>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38" name="Text 36"/>
          <p:cNvSpPr/>
          <p:nvPr/>
        </p:nvSpPr>
        <p:spPr>
          <a:xfrm>
            <a:off x="6793992" y="4105656"/>
            <a:ext cx="4754880" cy="292608"/>
          </a:xfrm>
          <a:prstGeom prst="rect">
            <a:avLst/>
          </a:prstGeom>
          <a:noFill/>
          <a:ln/>
        </p:spPr>
        <p:txBody>
          <a:bodyPr wrap="square" rtlCol="0" anchor="ctr"/>
          <a:lstStyle/>
          <a:p>
            <a:pPr marL="0" indent="0">
              <a:buNone/>
            </a:pPr>
            <a:r>
              <a:rPr lang="en-US" sz="1250" b="1" dirty="0">
                <a:solidFill>
                  <a:srgbClr val="7A3406"/>
                </a:solidFill>
                <a:latin typeface="Cambria" pitchFamily="34" charset="0"/>
                <a:ea typeface="Cambria" pitchFamily="34" charset="-122"/>
                <a:cs typeface="Cambria" pitchFamily="34" charset="-120"/>
              </a:rPr>
              <a:t>Process Improvement</a:t>
            </a:r>
            <a:endParaRPr lang="en-US" sz="1250" dirty="0"/>
          </a:p>
        </p:txBody>
      </p:sp>
      <p:sp>
        <p:nvSpPr>
          <p:cNvPr id="39" name="Text 37"/>
          <p:cNvSpPr/>
          <p:nvPr/>
        </p:nvSpPr>
        <p:spPr>
          <a:xfrm>
            <a:off x="6446520" y="4434840"/>
            <a:ext cx="5074920" cy="640080"/>
          </a:xfrm>
          <a:prstGeom prst="rect">
            <a:avLst/>
          </a:prstGeom>
          <a:noFill/>
          <a:ln/>
        </p:spPr>
        <p:txBody>
          <a:bodyPr wrap="square" rtlCol="0" anchor="t"/>
          <a:lstStyle/>
          <a:p>
            <a:pPr marL="0" indent="0">
              <a:lnSpc>
                <a:spcPct val="102000"/>
              </a:lnSpc>
              <a:buNone/>
            </a:pPr>
            <a:r>
              <a:rPr lang="en-US" sz="850" b="1" dirty="0">
                <a:solidFill>
                  <a:srgbClr val="262626"/>
                </a:solidFill>
                <a:latin typeface="Calibri" pitchFamily="34" charset="0"/>
                <a:ea typeface="Calibri" pitchFamily="34" charset="-122"/>
                <a:cs typeface="Calibri" pitchFamily="34" charset="-120"/>
              </a:rPr>
              <a:t>Observation: </a:t>
            </a:r>
            <a:r>
              <a:rPr lang="en-US" sz="850" dirty="0">
                <a:solidFill>
                  <a:srgbClr val="262626"/>
                </a:solidFill>
                <a:latin typeface="Calibri" pitchFamily="34" charset="0"/>
                <a:ea typeface="Calibri" pitchFamily="34" charset="-122"/>
                <a:cs typeface="Calibri" pitchFamily="34" charset="-120"/>
              </a:rPr>
              <a:t>356 tickets remain “Unclassified” in severity — a small but avoidable data-quality gap.  </a:t>
            </a:r>
            <a:r>
              <a:rPr lang="en-US" sz="850" b="1" dirty="0">
                <a:solidFill>
                  <a:srgbClr val="262626"/>
                </a:solidFill>
                <a:latin typeface="Calibri" pitchFamily="34" charset="0"/>
                <a:ea typeface="Calibri" pitchFamily="34" charset="-122"/>
                <a:cs typeface="Calibri" pitchFamily="34" charset="-120"/>
              </a:rPr>
              <a:t>Impact: </a:t>
            </a:r>
            <a:r>
              <a:rPr lang="en-US" sz="850" dirty="0">
                <a:solidFill>
                  <a:srgbClr val="262626"/>
                </a:solidFill>
                <a:latin typeface="Calibri" pitchFamily="34" charset="0"/>
                <a:ea typeface="Calibri" pitchFamily="34" charset="-122"/>
                <a:cs typeface="Calibri" pitchFamily="34" charset="-120"/>
              </a:rPr>
              <a:t>Incomplete tagging slightly understates true Major/Urgent volume and weakens future reporting.  </a:t>
            </a:r>
            <a:r>
              <a:rPr lang="en-US" sz="850" b="1" dirty="0">
                <a:solidFill>
                  <a:srgbClr val="7A3406"/>
                </a:solidFill>
                <a:latin typeface="Calibri" pitchFamily="34" charset="0"/>
                <a:ea typeface="Calibri" pitchFamily="34" charset="-122"/>
                <a:cs typeface="Calibri" pitchFamily="34" charset="-120"/>
              </a:rPr>
              <a:t>Action: </a:t>
            </a:r>
            <a:r>
              <a:rPr lang="en-US" sz="850" dirty="0">
                <a:solidFill>
                  <a:srgbClr val="262626"/>
                </a:solidFill>
                <a:latin typeface="Calibri" pitchFamily="34" charset="0"/>
                <a:ea typeface="Calibri" pitchFamily="34" charset="-122"/>
                <a:cs typeface="Calibri" pitchFamily="34" charset="-120"/>
              </a:rPr>
              <a:t>Add validation rules requiring severity classification before a ticket can be submitted.</a:t>
            </a:r>
            <a:endParaRPr lang="en-US" sz="850" dirty="0"/>
          </a:p>
        </p:txBody>
      </p:sp>
      <p:sp>
        <p:nvSpPr>
          <p:cNvPr id="40" name="Shape 38"/>
          <p:cNvSpPr/>
          <p:nvPr/>
        </p:nvSpPr>
        <p:spPr>
          <a:xfrm>
            <a:off x="6263640" y="5257800"/>
            <a:ext cx="5440680" cy="1188720"/>
          </a:xfrm>
          <a:prstGeom prst="roundRect">
            <a:avLst>
              <a:gd name="adj" fmla="val 4231"/>
            </a:avLst>
          </a:prstGeom>
          <a:solidFill>
            <a:srgbClr val="C1560C"/>
          </a:solidFill>
          <a:ln/>
        </p:spPr>
      </p:sp>
      <p:sp>
        <p:nvSpPr>
          <p:cNvPr id="41" name="Text 39"/>
          <p:cNvSpPr/>
          <p:nvPr/>
        </p:nvSpPr>
        <p:spPr>
          <a:xfrm>
            <a:off x="6446520" y="5367528"/>
            <a:ext cx="5074920" cy="256032"/>
          </a:xfrm>
          <a:prstGeom prst="rect">
            <a:avLst/>
          </a:prstGeom>
          <a:noFill/>
          <a:ln/>
        </p:spPr>
        <p:txBody>
          <a:bodyPr wrap="square"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Prioritization</a:t>
            </a:r>
            <a:endParaRPr lang="en-US" sz="1100" dirty="0"/>
          </a:p>
        </p:txBody>
      </p:sp>
      <p:sp>
        <p:nvSpPr>
          <p:cNvPr id="42" name="Text 40"/>
          <p:cNvSpPr/>
          <p:nvPr/>
        </p:nvSpPr>
        <p:spPr>
          <a:xfrm>
            <a:off x="6446520" y="5641848"/>
            <a:ext cx="5074920" cy="731520"/>
          </a:xfrm>
          <a:prstGeom prst="rect">
            <a:avLst/>
          </a:prstGeom>
          <a:noFill/>
          <a:ln/>
        </p:spPr>
        <p:txBody>
          <a:bodyPr wrap="square" rtlCol="0" anchor="t"/>
          <a:lstStyle/>
          <a:p>
            <a:pPr marL="0" indent="0">
              <a:lnSpc>
                <a:spcPct val="110000"/>
              </a:lnSpc>
              <a:buNone/>
            </a:pPr>
            <a:r>
              <a:rPr lang="en-US" sz="950" dirty="0">
                <a:solidFill>
                  <a:srgbClr val="FFFFFF"/>
                </a:solidFill>
                <a:latin typeface="Calibri" pitchFamily="34" charset="0"/>
                <a:ea typeface="Calibri" pitchFamily="34" charset="-122"/>
                <a:cs typeface="Calibri" pitchFamily="34" charset="-120"/>
              </a:rPr>
              <a:t>Items 1–3 offer the greatest business impact and should be sequenced first; items 4–7 sustain and protect those gains.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23120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31206"/>
          </a:solidFill>
          <a:ln/>
        </p:spPr>
      </p:sp>
      <p:sp>
        <p:nvSpPr>
          <p:cNvPr id="3" name="Shape 1"/>
          <p:cNvSpPr/>
          <p:nvPr/>
        </p:nvSpPr>
        <p:spPr>
          <a:xfrm>
            <a:off x="-2286000" y="4389120"/>
            <a:ext cx="5486400" cy="5486400"/>
          </a:xfrm>
          <a:prstGeom prst="ellipse">
            <a:avLst/>
          </a:prstGeom>
          <a:solidFill>
            <a:srgbClr val="7A3406"/>
          </a:solidFill>
          <a:ln/>
        </p:spPr>
      </p:sp>
      <p:sp>
        <p:nvSpPr>
          <p:cNvPr id="4" name="Text 2"/>
          <p:cNvSpPr/>
          <p:nvPr/>
        </p:nvSpPr>
        <p:spPr>
          <a:xfrm>
            <a:off x="822960" y="640080"/>
            <a:ext cx="5486400" cy="365760"/>
          </a:xfrm>
          <a:prstGeom prst="rect">
            <a:avLst/>
          </a:prstGeom>
          <a:noFill/>
          <a:ln/>
        </p:spPr>
        <p:txBody>
          <a:bodyPr wrap="square" rtlCol="0" anchor="ctr"/>
          <a:lstStyle/>
          <a:p>
            <a:pPr marL="0" indent="0">
              <a:buNone/>
            </a:pPr>
            <a:r>
              <a:rPr lang="en-US" sz="1300" b="1" kern="0" spc="300" dirty="0">
                <a:solidFill>
                  <a:srgbClr val="F0A868"/>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822960" y="1051560"/>
            <a:ext cx="10332720" cy="9144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Data-Driven Decisions for a Growing Service Desk</a:t>
            </a:r>
            <a:endParaRPr lang="en-US" sz="2800" dirty="0"/>
          </a:p>
        </p:txBody>
      </p:sp>
      <p:sp>
        <p:nvSpPr>
          <p:cNvPr id="6" name="Shape 4"/>
          <p:cNvSpPr/>
          <p:nvPr/>
        </p:nvSpPr>
        <p:spPr>
          <a:xfrm>
            <a:off x="822960" y="2194560"/>
            <a:ext cx="5074920" cy="1828800"/>
          </a:xfrm>
          <a:prstGeom prst="roundRect">
            <a:avLst>
              <a:gd name="adj" fmla="val 3000"/>
            </a:avLst>
          </a:prstGeom>
          <a:solidFill>
            <a:srgbClr val="2E1A0C"/>
          </a:solidFill>
          <a:ln w="9525">
            <a:solidFill>
              <a:srgbClr val="7A3406"/>
            </a:solidFill>
            <a:prstDash val="solid"/>
          </a:ln>
        </p:spPr>
      </p:sp>
      <p:sp>
        <p:nvSpPr>
          <p:cNvPr id="7" name="Text 5"/>
          <p:cNvSpPr/>
          <p:nvPr/>
        </p:nvSpPr>
        <p:spPr>
          <a:xfrm>
            <a:off x="1051560" y="2359152"/>
            <a:ext cx="4617720" cy="292608"/>
          </a:xfrm>
          <a:prstGeom prst="rect">
            <a:avLst/>
          </a:prstGeom>
          <a:noFill/>
          <a:ln/>
        </p:spPr>
        <p:txBody>
          <a:bodyPr wrap="square" rtlCol="0" anchor="ctr"/>
          <a:lstStyle/>
          <a:p>
            <a:pPr marL="0" indent="0">
              <a:buNone/>
            </a:pPr>
            <a:r>
              <a:rPr lang="en-US" sz="1350" b="1" dirty="0">
                <a:solidFill>
                  <a:srgbClr val="C1560C"/>
                </a:solidFill>
                <a:latin typeface="Cambria" pitchFamily="34" charset="0"/>
                <a:ea typeface="Cambria" pitchFamily="34" charset="-122"/>
                <a:cs typeface="Cambria" pitchFamily="34" charset="-120"/>
              </a:rPr>
              <a:t>What we found</a:t>
            </a:r>
            <a:endParaRPr lang="en-US" sz="1350" dirty="0"/>
          </a:p>
        </p:txBody>
      </p:sp>
      <p:sp>
        <p:nvSpPr>
          <p:cNvPr id="8" name="Text 6"/>
          <p:cNvSpPr/>
          <p:nvPr/>
        </p:nvSpPr>
        <p:spPr>
          <a:xfrm>
            <a:off x="1051560" y="2697480"/>
            <a:ext cx="4617720" cy="1188720"/>
          </a:xfrm>
          <a:prstGeom prst="rect">
            <a:avLst/>
          </a:prstGeom>
          <a:noFill/>
          <a:ln/>
        </p:spPr>
        <p:txBody>
          <a:bodyPr wrap="square" rtlCol="0" anchor="t"/>
          <a:lstStyle/>
          <a:p>
            <a:pPr marL="0" indent="0">
              <a:lnSpc>
                <a:spcPct val="115000"/>
              </a:lnSpc>
              <a:buNone/>
            </a:pPr>
            <a:r>
              <a:rPr lang="en-US" sz="1100" dirty="0">
                <a:solidFill>
                  <a:srgbClr val="E8D9CB"/>
                </a:solidFill>
                <a:latin typeface="Calibri" pitchFamily="34" charset="0"/>
                <a:ea typeface="Calibri" pitchFamily="34" charset="-122"/>
                <a:cs typeface="Calibri" pitchFamily="34" charset="-120"/>
              </a:rPr>
              <a:t>Ticket demand has grown 123% since 2016 and is still accelerating, concentrated heavily in System and Login Access issues.</a:t>
            </a:r>
            <a:endParaRPr lang="en-US" sz="1100" dirty="0"/>
          </a:p>
        </p:txBody>
      </p:sp>
      <p:sp>
        <p:nvSpPr>
          <p:cNvPr id="9" name="Shape 7"/>
          <p:cNvSpPr/>
          <p:nvPr/>
        </p:nvSpPr>
        <p:spPr>
          <a:xfrm>
            <a:off x="6172200" y="2194560"/>
            <a:ext cx="5074920" cy="1828800"/>
          </a:xfrm>
          <a:prstGeom prst="roundRect">
            <a:avLst>
              <a:gd name="adj" fmla="val 3000"/>
            </a:avLst>
          </a:prstGeom>
          <a:solidFill>
            <a:srgbClr val="2E1A0C"/>
          </a:solidFill>
          <a:ln w="9525">
            <a:solidFill>
              <a:srgbClr val="7A3406"/>
            </a:solidFill>
            <a:prstDash val="solid"/>
          </a:ln>
        </p:spPr>
      </p:sp>
      <p:sp>
        <p:nvSpPr>
          <p:cNvPr id="10" name="Text 8"/>
          <p:cNvSpPr/>
          <p:nvPr/>
        </p:nvSpPr>
        <p:spPr>
          <a:xfrm>
            <a:off x="6400800" y="2359152"/>
            <a:ext cx="4617720" cy="292608"/>
          </a:xfrm>
          <a:prstGeom prst="rect">
            <a:avLst/>
          </a:prstGeom>
          <a:noFill/>
          <a:ln/>
        </p:spPr>
        <p:txBody>
          <a:bodyPr wrap="square" rtlCol="0" anchor="ctr"/>
          <a:lstStyle/>
          <a:p>
            <a:pPr marL="0" indent="0">
              <a:buNone/>
            </a:pPr>
            <a:r>
              <a:rPr lang="en-US" sz="1350" b="1" dirty="0">
                <a:solidFill>
                  <a:srgbClr val="C1560C"/>
                </a:solidFill>
                <a:latin typeface="Cambria" pitchFamily="34" charset="0"/>
                <a:ea typeface="Cambria" pitchFamily="34" charset="-122"/>
                <a:cs typeface="Cambria" pitchFamily="34" charset="-120"/>
              </a:rPr>
              <a:t>Main challenge</a:t>
            </a:r>
            <a:endParaRPr lang="en-US" sz="1350" dirty="0"/>
          </a:p>
        </p:txBody>
      </p:sp>
      <p:sp>
        <p:nvSpPr>
          <p:cNvPr id="11" name="Text 9"/>
          <p:cNvSpPr/>
          <p:nvPr/>
        </p:nvSpPr>
        <p:spPr>
          <a:xfrm>
            <a:off x="6400800" y="2697480"/>
            <a:ext cx="4617720" cy="1188720"/>
          </a:xfrm>
          <a:prstGeom prst="rect">
            <a:avLst/>
          </a:prstGeom>
          <a:noFill/>
          <a:ln/>
        </p:spPr>
        <p:txBody>
          <a:bodyPr wrap="square" rtlCol="0" anchor="t"/>
          <a:lstStyle/>
          <a:p>
            <a:pPr marL="0" indent="0">
              <a:lnSpc>
                <a:spcPct val="115000"/>
              </a:lnSpc>
              <a:buNone/>
            </a:pPr>
            <a:r>
              <a:rPr lang="en-US" sz="1100" dirty="0">
                <a:solidFill>
                  <a:srgbClr val="E8D9CB"/>
                </a:solidFill>
                <a:latin typeface="Calibri" pitchFamily="34" charset="0"/>
                <a:ea typeface="Calibri" pitchFamily="34" charset="-122"/>
                <a:cs typeface="Calibri" pitchFamily="34" charset="-120"/>
              </a:rPr>
              <a:t>Triage gaps — 30% of tickets unassigned in priority, 91% sharing one severity tag — limit visibility into true urgency.</a:t>
            </a:r>
            <a:endParaRPr lang="en-US" sz="1100" dirty="0"/>
          </a:p>
        </p:txBody>
      </p:sp>
      <p:sp>
        <p:nvSpPr>
          <p:cNvPr id="12" name="Shape 10"/>
          <p:cNvSpPr/>
          <p:nvPr/>
        </p:nvSpPr>
        <p:spPr>
          <a:xfrm>
            <a:off x="822960" y="4251960"/>
            <a:ext cx="5074920" cy="1828800"/>
          </a:xfrm>
          <a:prstGeom prst="roundRect">
            <a:avLst>
              <a:gd name="adj" fmla="val 3000"/>
            </a:avLst>
          </a:prstGeom>
          <a:solidFill>
            <a:srgbClr val="2E1A0C"/>
          </a:solidFill>
          <a:ln w="9525">
            <a:solidFill>
              <a:srgbClr val="7A3406"/>
            </a:solidFill>
            <a:prstDash val="solid"/>
          </a:ln>
        </p:spPr>
      </p:sp>
      <p:sp>
        <p:nvSpPr>
          <p:cNvPr id="13" name="Text 11"/>
          <p:cNvSpPr/>
          <p:nvPr/>
        </p:nvSpPr>
        <p:spPr>
          <a:xfrm>
            <a:off x="1051560" y="4416552"/>
            <a:ext cx="4617720" cy="292608"/>
          </a:xfrm>
          <a:prstGeom prst="rect">
            <a:avLst/>
          </a:prstGeom>
          <a:noFill/>
          <a:ln/>
        </p:spPr>
        <p:txBody>
          <a:bodyPr wrap="square" rtlCol="0" anchor="ctr"/>
          <a:lstStyle/>
          <a:p>
            <a:pPr marL="0" indent="0">
              <a:buNone/>
            </a:pPr>
            <a:r>
              <a:rPr lang="en-US" sz="1350" b="1" dirty="0">
                <a:solidFill>
                  <a:srgbClr val="C1560C"/>
                </a:solidFill>
                <a:latin typeface="Cambria" pitchFamily="34" charset="0"/>
                <a:ea typeface="Cambria" pitchFamily="34" charset="-122"/>
                <a:cs typeface="Cambria" pitchFamily="34" charset="-120"/>
              </a:rPr>
              <a:t>Biggest opportunity</a:t>
            </a:r>
            <a:endParaRPr lang="en-US" sz="1350" dirty="0"/>
          </a:p>
        </p:txBody>
      </p:sp>
      <p:sp>
        <p:nvSpPr>
          <p:cNvPr id="14" name="Text 12"/>
          <p:cNvSpPr/>
          <p:nvPr/>
        </p:nvSpPr>
        <p:spPr>
          <a:xfrm>
            <a:off x="1051560" y="4754880"/>
            <a:ext cx="4617720" cy="1188720"/>
          </a:xfrm>
          <a:prstGeom prst="rect">
            <a:avLst/>
          </a:prstGeom>
          <a:noFill/>
          <a:ln/>
        </p:spPr>
        <p:txBody>
          <a:bodyPr wrap="square" rtlCol="0" anchor="t"/>
          <a:lstStyle/>
          <a:p>
            <a:pPr marL="0" indent="0">
              <a:lnSpc>
                <a:spcPct val="115000"/>
              </a:lnSpc>
              <a:buNone/>
            </a:pPr>
            <a:r>
              <a:rPr lang="en-US" sz="1100" dirty="0">
                <a:solidFill>
                  <a:srgbClr val="E8D9CB"/>
                </a:solidFill>
                <a:latin typeface="Calibri" pitchFamily="34" charset="0"/>
                <a:ea typeface="Calibri" pitchFamily="34" charset="-122"/>
                <a:cs typeface="Calibri" pitchFamily="34" charset="-120"/>
              </a:rPr>
              <a:t>System and Hardware tickets combine high volume (or long resolution time) with the clearest levers for improvement.</a:t>
            </a:r>
            <a:endParaRPr lang="en-US" sz="1100" dirty="0"/>
          </a:p>
        </p:txBody>
      </p:sp>
      <p:sp>
        <p:nvSpPr>
          <p:cNvPr id="15" name="Shape 13"/>
          <p:cNvSpPr/>
          <p:nvPr/>
        </p:nvSpPr>
        <p:spPr>
          <a:xfrm>
            <a:off x="6172200" y="4251960"/>
            <a:ext cx="5074920" cy="1828800"/>
          </a:xfrm>
          <a:prstGeom prst="roundRect">
            <a:avLst>
              <a:gd name="adj" fmla="val 3000"/>
            </a:avLst>
          </a:prstGeom>
          <a:solidFill>
            <a:srgbClr val="2E1A0C"/>
          </a:solidFill>
          <a:ln w="9525">
            <a:solidFill>
              <a:srgbClr val="7A3406"/>
            </a:solidFill>
            <a:prstDash val="solid"/>
          </a:ln>
        </p:spPr>
      </p:sp>
      <p:sp>
        <p:nvSpPr>
          <p:cNvPr id="16" name="Text 14"/>
          <p:cNvSpPr/>
          <p:nvPr/>
        </p:nvSpPr>
        <p:spPr>
          <a:xfrm>
            <a:off x="6400800" y="4416552"/>
            <a:ext cx="4617720" cy="292608"/>
          </a:xfrm>
          <a:prstGeom prst="rect">
            <a:avLst/>
          </a:prstGeom>
          <a:noFill/>
          <a:ln/>
        </p:spPr>
        <p:txBody>
          <a:bodyPr wrap="square" rtlCol="0" anchor="ctr"/>
          <a:lstStyle/>
          <a:p>
            <a:pPr marL="0" indent="0">
              <a:buNone/>
            </a:pPr>
            <a:r>
              <a:rPr lang="en-US" sz="1350" b="1" dirty="0">
                <a:solidFill>
                  <a:srgbClr val="C1560C"/>
                </a:solidFill>
                <a:latin typeface="Cambria" pitchFamily="34" charset="0"/>
                <a:ea typeface="Cambria" pitchFamily="34" charset="-122"/>
                <a:cs typeface="Cambria" pitchFamily="34" charset="-120"/>
              </a:rPr>
              <a:t>Expected value</a:t>
            </a:r>
            <a:endParaRPr lang="en-US" sz="1350" dirty="0"/>
          </a:p>
        </p:txBody>
      </p:sp>
      <p:sp>
        <p:nvSpPr>
          <p:cNvPr id="17" name="Text 15"/>
          <p:cNvSpPr/>
          <p:nvPr/>
        </p:nvSpPr>
        <p:spPr>
          <a:xfrm>
            <a:off x="6400800" y="4754880"/>
            <a:ext cx="4617720" cy="1188720"/>
          </a:xfrm>
          <a:prstGeom prst="rect">
            <a:avLst/>
          </a:prstGeom>
          <a:noFill/>
          <a:ln/>
        </p:spPr>
        <p:txBody>
          <a:bodyPr wrap="square" rtlCol="0" anchor="t"/>
          <a:lstStyle/>
          <a:p>
            <a:pPr marL="0" indent="0">
              <a:lnSpc>
                <a:spcPct val="115000"/>
              </a:lnSpc>
              <a:buNone/>
            </a:pPr>
            <a:r>
              <a:rPr lang="en-US" sz="1100" dirty="0">
                <a:solidFill>
                  <a:srgbClr val="E8D9CB"/>
                </a:solidFill>
                <a:latin typeface="Calibri" pitchFamily="34" charset="0"/>
                <a:ea typeface="Calibri" pitchFamily="34" charset="-122"/>
                <a:cs typeface="Calibri" pitchFamily="34" charset="-120"/>
              </a:rPr>
              <a:t>Tighter triage, targeted process fixes, and proactive capacity planning can protect the satisfaction gains already achieved (3.98 → 4.16) as volume keeps rising.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1E5"/>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24713E-F4F9-E54B-29B9-274631AFF43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3048000" y="1905000"/>
            <a:ext cx="6096000" cy="3048000"/>
          </a:xfrm>
          <a:prstGeom prst="rect">
            <a:avLst/>
          </a:prstGeom>
        </p:spPr>
      </p:pic>
    </p:spTree>
    <p:extLst>
      <p:ext uri="{BB962C8B-B14F-4D97-AF65-F5344CB8AC3E}">
        <p14:creationId xmlns:p14="http://schemas.microsoft.com/office/powerpoint/2010/main" val="39832037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137</TotalTime>
  <Words>2505</Words>
  <Application>Microsoft Office PowerPoint</Application>
  <PresentationFormat>Widescreen</PresentationFormat>
  <Paragraphs>211</Paragraphs>
  <Slides>16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Cambria</vt:lpstr>
      <vt:lpstr>Merriweather</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Rupesh Kumar_UPES</cp:lastModifiedBy>
  <cp:revision>12</cp:revision>
  <dcterms:created xsi:type="dcterms:W3CDTF">2026-08-15T13:18:58Z</dcterms:created>
  <dcterms:modified xsi:type="dcterms:W3CDTF">2026-08-16T07:38:34Z</dcterms:modified>
</cp:coreProperties>
</file>